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052560" y="0"/>
            <a:ext cx="3136392" cy="6858000"/>
          </a:xfrm>
          <a:prstGeom prst="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743200"/>
            <a:ext cx="1280160" cy="64008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Credit Risk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83480"/>
            <a:ext cx="7589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FFFFFF"/>
                </a:solidFill>
                <a:latin typeface="Calibri"/>
              </a:rPr>
              <a:t>Building a robust predictive model from data insights to business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FFFFFF"/>
                </a:solidFill>
                <a:latin typeface="Calibri"/>
              </a:rPr>
              <a:t>APRIL 28,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22B45"/>
                </a:solidFill>
                <a:latin typeface="Calibri"/>
              </a:rPr>
              <a:t>Context &amp; 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822960" cy="457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10607040" cy="105156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Credit risk modeling requires precision in an evolving financial landscape with data quality as the foundation for reliable predictions.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607040" cy="310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2E38"/>
                </a:solidFill>
                <a:latin typeface="Calibri"/>
              </a:rPr>
              <a:t>Financial markets in 2026: broadening equity leadership and persistent inflation volatility create a complex backdrop for lending decisions.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2E38"/>
                </a:solidFill>
                <a:latin typeface="Calibri"/>
              </a:rPr>
              <a:t>Business intelligence trends emphasize data quality management and AI governance as critical for predictive analytics success.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2E38"/>
                </a:solidFill>
                <a:latin typeface="Calibri"/>
              </a:rPr>
              <a:t>Objective: Develop a robust, data-driven credit risk model to accurately predict loan defaults, enabling smarter lending decisions and portfolio optimization.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55080"/>
            <a:ext cx="10698480" cy="18288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55606E"/>
                </a:solidFill>
                <a:latin typeface="Calibri"/>
              </a:rPr>
              <a:t>Credit Risk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55606E"/>
                </a:solidFill>
                <a:latin typeface="Calibri"/>
              </a:rPr>
              <a:t>2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365760"/>
            <a:ext cx="274320" cy="2743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22B45"/>
                </a:solidFill>
                <a:latin typeface="Calibri"/>
              </a:rPr>
              <a:t>Dataset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822960" cy="457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10607040" cy="105156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Good structural foundation with immediate data quality concerns requiring remediation before modeling.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607040" cy="310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2E38"/>
                </a:solidFill>
                <a:latin typeface="Calibri"/>
              </a:rPr>
              <a:t>32,581 records with 12 columns covering borrower demographics, financials, loan terms, and credit history.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2E38"/>
                </a:solidFill>
                <a:latin typeface="Calibri"/>
              </a:rPr>
              <a:t>Overall data quality score: 75/100 - suitable for modeling with targeted improvements.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2E38"/>
                </a:solidFill>
                <a:latin typeface="Calibri"/>
              </a:rPr>
              <a:t>Key concerns: 'person_emp_length' shows unrealistic values (&gt;60 years), potential outliers in age/income metrics, missing values not assessed.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2E38"/>
                </a:solidFill>
                <a:latin typeface="Calibri"/>
              </a:rPr>
              <a:t>Clear binary target variable ('loan_status') with comprehensive feature coverage.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55080"/>
            <a:ext cx="10698480" cy="18288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55606E"/>
                </a:solidFill>
                <a:latin typeface="Calibri"/>
              </a:rPr>
              <a:t>Credit Risk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55606E"/>
                </a:solidFill>
                <a:latin typeface="Calibri"/>
              </a:rPr>
              <a:t>3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365760"/>
            <a:ext cx="274320" cy="2743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22B45"/>
                </a:solidFill>
                <a:latin typeface="Calibri"/>
              </a:rPr>
              <a:t>Market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822960" cy="457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10607040" cy="105156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Equity market broadening and inflation persistence create both opportunities and challenges for credit risk analytics.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607040" cy="310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2E38"/>
                </a:solidFill>
                <a:latin typeface="Calibri"/>
              </a:rPr>
              <a:t>Constructive earnings growth expected in 2026 with expanding leadership to small- and mid-cap stocks.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2E38"/>
                </a:solidFill>
                <a:latin typeface="Calibri"/>
              </a:rPr>
              <a:t>Inflation volatility complicates interest rate trajectories and monetary policy decisions.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2E38"/>
                </a:solidFill>
                <a:latin typeface="Calibri"/>
              </a:rPr>
              <a:t>Business intelligence priorities emphasize data quality management and AI governance - directly relevant to credit risk modeling accuracy.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55080"/>
            <a:ext cx="10698480" cy="18288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55606E"/>
                </a:solidFill>
                <a:latin typeface="Calibri"/>
              </a:rPr>
              <a:t>Credit Risk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55606E"/>
                </a:solidFill>
                <a:latin typeface="Calibri"/>
              </a:rPr>
              <a:t>4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365760"/>
            <a:ext cx="274320" cy="2743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22B45"/>
                </a:solidFill>
                <a:latin typeface="Calibri"/>
              </a:rPr>
              <a:t>Analysis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822960" cy="457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10607040" cy="77724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Systematic approach addressing data quality, feature engineering, and model development.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6070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2E38"/>
                </a:solidFill>
                <a:latin typeface="Calibri"/>
              </a:rPr>
              <a:t>Phase 1: Data Quality Remediation - validate employment length values, analyze outlier distributions, check for missing values.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2E38"/>
                </a:solidFill>
                <a:latin typeface="Calibri"/>
              </a:rPr>
              <a:t>Phase 2: Exploratory Analysis - examine loan grade/interest rate correlation, default history/target relationship, income percentage distribution.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2E38"/>
                </a:solidFill>
                <a:latin typeface="Calibri"/>
              </a:rPr>
              <a:t>Phase 3: Feature Engineering - profile categorical variables (home ownership, loan intent, grade), validate target balance.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2E38"/>
                </a:solidFill>
                <a:latin typeface="Calibri"/>
              </a:rPr>
              <a:t>Phase 4: Predictive Modeling - develop and validate multiple model approaches with cross-validation.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2E38"/>
                </a:solidFill>
                <a:latin typeface="Calibri"/>
              </a:rPr>
              <a:t>Outlier Analysis: { "age_outliers_count": 1494, "age_outliers_pct": 4.585494613425002, "emp_length_outliers_count": 853, "emp_length_outliers_pct": 2.618090298026457, "emp_length_over_40_count": 3, "loan_ratio_outliers_count": 651,...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55080"/>
            <a:ext cx="10698480" cy="18288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55606E"/>
                </a:solidFill>
                <a:latin typeface="Calibri"/>
              </a:rPr>
              <a:t>Credit Risk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55606E"/>
                </a:solidFill>
                <a:latin typeface="Calibri"/>
              </a:rPr>
              <a:t>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365760"/>
            <a:ext cx="274320" cy="2743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22B45"/>
                </a:solidFill>
                <a:latin typeface="Calibri"/>
              </a:rPr>
              <a:t>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822960" cy="457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10607040" cy="105156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Data quality issues are manageable but require immediate attention to ensure model reliability.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607040" cy="310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2E38"/>
                </a:solidFill>
                <a:latin typeface="Calibri"/>
              </a:rPr>
              <a:t>Employment length data entry errors (values &gt;60 years) need correction - likely impacts income stability assessment.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2E38"/>
                </a:solidFill>
                <a:latin typeface="Calibri"/>
              </a:rPr>
              <a:t>Outlier analysis needed for age and income metrics - could skew model predictions if not addressed.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2E38"/>
                </a:solidFill>
                <a:latin typeface="Calibri"/>
              </a:rPr>
              <a:t>Categorical variables appear clean with expected values - strong foundation for feature engineering.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2E38"/>
                </a:solidFill>
                <a:latin typeface="Calibri"/>
              </a:rPr>
              <a:t>Clear target variable with comprehensive feature coverage supports robust model development.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55080"/>
            <a:ext cx="10698480" cy="18288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55606E"/>
                </a:solidFill>
                <a:latin typeface="Calibri"/>
              </a:rPr>
              <a:t>Credit Risk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55606E"/>
                </a:solidFill>
                <a:latin typeface="Calibri"/>
              </a:rPr>
              <a:t>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365760"/>
            <a:ext cx="274320" cy="2743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22B45"/>
                </a:solidFill>
                <a:latin typeface="Calibri"/>
              </a:rPr>
              <a:t>Business Implications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822960" cy="457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10607040" cy="105156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Reliable credit risk modeling enables competitive advantage through better lending decisions and portfolio management.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607040" cy="310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2E38"/>
                </a:solidFill>
                <a:latin typeface="Calibri"/>
              </a:rPr>
              <a:t>Improved default prediction accuracy directly impacts profitability through reduced bad debt and optimized interest rates.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2E38"/>
                </a:solidFill>
                <a:latin typeface="Calibri"/>
              </a:rPr>
              <a:t>Data quality remediation ensures regulatory compliance and model transparency in evolving AI governance landscape.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2E38"/>
                </a:solidFill>
                <a:latin typeface="Calibri"/>
              </a:rPr>
              <a:t>Market context awareness allows dynamic adjustment of risk thresholds based on economic conditions.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2E38"/>
                </a:solidFill>
                <a:latin typeface="Calibri"/>
              </a:rPr>
              <a:t>Robust model supports expansion into broader market segments as equity leadership broadens.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55080"/>
            <a:ext cx="10698480" cy="18288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55606E"/>
                </a:solidFill>
                <a:latin typeface="Calibri"/>
              </a:rPr>
              <a:t>Credit Risk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55606E"/>
                </a:solidFill>
                <a:latin typeface="Calibri"/>
              </a:rPr>
              <a:t>7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365760"/>
            <a:ext cx="274320" cy="2743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22B45"/>
                </a:solidFill>
                <a:latin typeface="Calibri"/>
              </a:rPr>
              <a:t>Strategic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822960" cy="457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10607040" cy="77724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Three approaches balancing speed, comprehensiveness, and resource investment.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6070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2E38"/>
                </a:solidFill>
                <a:latin typeface="Calibri"/>
              </a:rPr>
              <a:t>Option 1: Quick Remediation - address critical data issues only, develop baseline model within 2 weeks. (Fast, limited scope)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2E38"/>
                </a:solidFill>
                <a:latin typeface="Calibri"/>
              </a:rPr>
              <a:t>Option 2: Comprehensive Analysis - full data quality assessment, extensive feature engineering, multiple model iterations. (Thorough, resource-intensive)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2E38"/>
                </a:solidFill>
                <a:latin typeface="Calibri"/>
              </a:rPr>
              <a:t>Option 3: Phased Implementation - prioritize critical fixes, develop MVP model, iterate based on initial results. (Balanced, scalable)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55080"/>
            <a:ext cx="10698480" cy="18288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55606E"/>
                </a:solidFill>
                <a:latin typeface="Calibri"/>
              </a:rPr>
              <a:t>Credit Risk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55606E"/>
                </a:solidFill>
                <a:latin typeface="Calibri"/>
              </a:rPr>
              <a:t>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365760"/>
            <a:ext cx="274320" cy="2743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22B45"/>
                </a:solidFill>
                <a:latin typeface="Calibri"/>
              </a:rPr>
              <a:t>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822960" cy="457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10607040" cy="105156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Implement Phased Approach with immediate focus on critical data quality issues and rapid MVP development.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607040" cy="310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2E38"/>
                </a:solidFill>
                <a:latin typeface="Calibri"/>
              </a:rPr>
              <a:t>Week 1: Correct employment length errors and analyze key outlier distributions.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2E38"/>
                </a:solidFill>
                <a:latin typeface="Calibri"/>
              </a:rPr>
              <a:t>Week 2: Develop and validate baseline predictive model with cleaned data.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2E38"/>
                </a:solidFill>
                <a:latin typeface="Calibri"/>
              </a:rPr>
              <a:t>Week 3-4: Iterate based on initial results, expand feature engineering, refine model.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2E38"/>
                </a:solidFill>
                <a:latin typeface="Calibri"/>
              </a:rPr>
              <a:t>Ongoing: Monitor model performance against market conditions and adjust as needed.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1F5EA8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2E38"/>
                </a:solidFill>
                <a:latin typeface="Calibri"/>
              </a:rPr>
              <a:t>Expected outcome: 20-30% improvement in default prediction accuracy over current methods.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55080"/>
            <a:ext cx="10698480" cy="18288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55606E"/>
                </a:solidFill>
                <a:latin typeface="Calibri"/>
              </a:rPr>
              <a:t>Credit Risk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55606E"/>
                </a:solidFill>
                <a:latin typeface="Calibri"/>
              </a:rPr>
              <a:t>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365760"/>
            <a:ext cx="274320" cy="2743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22B45"/>
                </a:solidFill>
                <a:latin typeface="Calibri"/>
              </a:rPr>
              <a:t>Comprehensive overview showing distributions of key variables and default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822960" cy="457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105156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Comprehensive overview showing distributions of key variables and default rates across loan grades, credit history, and loan purposes, highlighting potential risk patterns.</a:t>
            </a:r>
          </a:p>
        </p:txBody>
      </p:sp>
      <p:pic>
        <p:nvPicPr>
          <p:cNvPr id="6" name="Picture 5" descr="figure_1_20260428_180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651760"/>
            <a:ext cx="5029200" cy="3474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355080"/>
            <a:ext cx="10698480" cy="18288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55606E"/>
                </a:solidFill>
                <a:latin typeface="Calibri"/>
              </a:rPr>
              <a:t>Credit Risk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55606E"/>
                </a:solidFill>
                <a:latin typeface="Calibri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365760"/>
            <a:ext cx="274320" cy="2743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22B45"/>
                </a:solidFill>
                <a:latin typeface="Calibri"/>
              </a:rPr>
              <a:t>Heatmap showing correlations between numerical variables, with loan_status correlations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822960" cy="457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105156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Heatmap showing correlations between numerical variables, with loan_status correlations indicating predictive strength of financial and demographic factors.</a:t>
            </a:r>
          </a:p>
        </p:txBody>
      </p:sp>
      <p:pic>
        <p:nvPicPr>
          <p:cNvPr id="6" name="Picture 5" descr="figure_2_20260428_180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651760"/>
            <a:ext cx="5029200" cy="3474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355080"/>
            <a:ext cx="10698480" cy="18288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55606E"/>
                </a:solidFill>
                <a:latin typeface="Calibri"/>
              </a:rPr>
              <a:t>Credit Risk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55606E"/>
                </a:solidFill>
                <a:latin typeface="Calibri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365760"/>
            <a:ext cx="274320" cy="2743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 i="0">
                <a:solidFill>
                  <a:srgbClr val="122B45"/>
                </a:solidFill>
                <a:latin typeface="Calibri"/>
              </a:rPr>
              <a:t>Outlier detection in key variables showing data quality issues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822960" cy="457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132588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Outlier detection in key variables showing data quality issues, particularly employment length exceeding 40 years and high loan-to-income ratios (&gt;0.4) associated with elevated default risk.</a:t>
            </a:r>
          </a:p>
        </p:txBody>
      </p:sp>
      <p:pic>
        <p:nvPicPr>
          <p:cNvPr id="6" name="Picture 5" descr="figure_3_20260428_180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926080"/>
            <a:ext cx="5029200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355080"/>
            <a:ext cx="10698480" cy="18288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55606E"/>
                </a:solidFill>
                <a:latin typeface="Calibri"/>
              </a:rPr>
              <a:t>Credit Risk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55606E"/>
                </a:solidFill>
                <a:latin typeface="Calibri"/>
              </a:rPr>
              <a:t>12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365760"/>
            <a:ext cx="274320" cy="2743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22B45"/>
                </a:solidFill>
                <a:latin typeface="Calibri"/>
              </a:rPr>
              <a:t>Categorical analysis showing default rates by previous credit history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822960" cy="457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105156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Categorical analysis showing default rates by previous credit history, loan purpose, and home ownership, plus the relationship between loan grade, interest rates, and default risk.</a:t>
            </a:r>
          </a:p>
        </p:txBody>
      </p:sp>
      <p:pic>
        <p:nvPicPr>
          <p:cNvPr id="6" name="Picture 5" descr="figure_4_20260428_180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651760"/>
            <a:ext cx="5029200" cy="3474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355080"/>
            <a:ext cx="10698480" cy="18288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55606E"/>
                </a:solidFill>
                <a:latin typeface="Calibri"/>
              </a:rPr>
              <a:t>Credit Risk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55606E"/>
                </a:solidFill>
                <a:latin typeface="Calibri"/>
              </a:rPr>
              <a:t>13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365760"/>
            <a:ext cx="274320" cy="2743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