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0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" cy="6858000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0"/>
            <a:ext cx="3136392" cy="6858000"/>
          </a:xfrm>
          <a:prstGeom prst="rect">
            <a:avLst/>
          </a:prstGeom>
          <a:solidFill>
            <a:srgbClr val="2C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30352"/>
            <a:ext cx="530352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 i="0">
                <a:solidFill>
                  <a:srgbClr val="E8EFF7"/>
                </a:solidFill>
                <a:latin typeface="Calibri"/>
              </a:rPr>
              <a:t>MULTI-AGENT ANALYTICS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139696"/>
            <a:ext cx="1152144" cy="36576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377440"/>
            <a:ext cx="7726679" cy="1325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Reducing Preventable Attrition: Targeting the 16% of employees at highest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160520"/>
            <a:ext cx="722376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0" i="0">
                <a:solidFill>
                  <a:srgbClr val="E8EFF7"/>
                </a:solidFill>
                <a:latin typeface="Calibri"/>
              </a:rPr>
              <a:t>Executive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6144768"/>
            <a:ext cx="39319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E8EFF7"/>
                </a:solidFill>
                <a:latin typeface="Calibri"/>
              </a:rPr>
              <a:t>June 01,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08592" y="2542032"/>
            <a:ext cx="233172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EXECUTIVE
DECISION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74420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000" b="1" i="0">
                <a:solidFill>
                  <a:srgbClr val="15304C"/>
                </a:solidFill>
                <a:latin typeface="Calibri"/>
              </a:rPr>
              <a:t>Analysis is based on a clean snapshot of 1,470 employees with 35 attributes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87552"/>
            <a:ext cx="914400" cy="32004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07008"/>
            <a:ext cx="10863072" cy="530352"/>
          </a:xfrm>
          <a:prstGeom prst="roundRect">
            <a:avLst/>
          </a:prstGeom>
          <a:solidFill>
            <a:srgbClr val="E8EFF7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280160"/>
            <a:ext cx="10607040" cy="42062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15304C"/>
                </a:solidFill>
                <a:latin typeface="Calibri"/>
              </a:rPr>
              <a:t>The dataset provides a robust foundation for segmentation, revealing clear patterns in who leaves and why.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901952"/>
            <a:ext cx="233172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84831"/>
            <a:ext cx="210312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 i="0">
                <a:solidFill>
                  <a:srgbClr val="2C65A4"/>
                </a:solidFill>
                <a:latin typeface="Calibri"/>
              </a:rPr>
              <a:t>1470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32304"/>
            <a:ext cx="2103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0" i="0">
                <a:solidFill>
                  <a:srgbClr val="5E6974"/>
                </a:solidFill>
                <a:latin typeface="Calibri"/>
              </a:rPr>
              <a:t>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901952"/>
            <a:ext cx="233172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2084831"/>
            <a:ext cx="210312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 i="0">
                <a:solidFill>
                  <a:srgbClr val="2C65A4"/>
                </a:solidFill>
                <a:latin typeface="Calibri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2432304"/>
            <a:ext cx="2103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0" i="0">
                <a:solidFill>
                  <a:srgbClr val="5E6974"/>
                </a:solidFill>
                <a:latin typeface="Calibri"/>
              </a:rPr>
              <a:t>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901952"/>
            <a:ext cx="233172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2084831"/>
            <a:ext cx="2103120" cy="31089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800" b="1" i="0">
                <a:solidFill>
                  <a:srgbClr val="2C65A4"/>
                </a:solidFill>
                <a:latin typeface="Calibri"/>
              </a:rPr>
              <a:t>Attrition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432304"/>
            <a:ext cx="210312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900" b="0" i="0">
                <a:solidFill>
                  <a:srgbClr val="5E6974"/>
                </a:solidFill>
                <a:latin typeface="Calibri"/>
              </a:rPr>
              <a:t>Target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46120"/>
            <a:ext cx="6629400" cy="23317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93008"/>
            <a:ext cx="420624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15304C"/>
                </a:solidFill>
                <a:latin typeface="Calibri"/>
              </a:rPr>
              <a:t>What the data represents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913632"/>
            <a:ext cx="6144768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hr attrition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Key fields include Age, Attrition, BusinessTravel, DailyRate, Department, DistanceFromHome, Education, EducationField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Target field is Attrition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3246120"/>
            <a:ext cx="3611880" cy="2331720"/>
          </a:xfrm>
          <a:prstGeom prst="roundRect">
            <a:avLst/>
          </a:prstGeom>
          <a:solidFill>
            <a:srgbClr val="F7EFDC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493008"/>
            <a:ext cx="306324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300" b="1" i="0">
                <a:solidFill>
                  <a:srgbClr val="15304C"/>
                </a:solidFill>
                <a:latin typeface="Calibri"/>
              </a:rPr>
              <a:t>Quality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913632"/>
            <a:ext cx="3063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Dataset has 1470 rows and 35 columns with no missing values or duplicate rows.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Remove or flag constant columns: EmployeeCount, Over18...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Consider outlier treatment for columns like MonthlyIncome, TrainingTimesLastYear...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Ensure categorical variables (e.g., BusinessTravel, Department) are properly encoded for machine learning models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291072"/>
            <a:ext cx="10881360" cy="10972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428232"/>
            <a:ext cx="73152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5E6974"/>
                </a:solidFill>
                <a:latin typeface="Calibri"/>
              </a:rPr>
              <a:t>Reducing Preventable Attrition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428232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 i="0">
                <a:solidFill>
                  <a:srgbClr val="5E6974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74420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 i="0">
                <a:solidFill>
                  <a:srgbClr val="15304C"/>
                </a:solidFill>
                <a:latin typeface="Calibri"/>
              </a:rPr>
              <a:t>Unplanned attrition costs exceed 150% of salary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87552"/>
            <a:ext cx="914400" cy="32004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07008"/>
            <a:ext cx="10863072" cy="530352"/>
          </a:xfrm>
          <a:prstGeom prst="roundRect">
            <a:avLst/>
          </a:prstGeom>
          <a:solidFill>
            <a:srgbClr val="E8EFF7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280160"/>
            <a:ext cx="10607040" cy="42062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15304C"/>
                </a:solidFill>
                <a:latin typeface="Calibri"/>
              </a:rPr>
              <a:t>Replacing employees is expensive and disruptive; preventing predictable turnover in key roles protects institutional knowledge and operational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029968"/>
            <a:ext cx="6492240" cy="35204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5" y="2359152"/>
            <a:ext cx="5989320" cy="2651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2C65A4"/>
                </a:solidFill>
                <a:latin typeface="Calibri"/>
              </a:rPr>
              <a:t>- </a:t>
            </a:r>
            <a:r>
              <a:rPr sz="1100">
                <a:solidFill>
                  <a:srgbClr val="1F2730"/>
                </a:solidFill>
                <a:latin typeface="Calibri"/>
              </a:rPr>
              <a:t>The average attrition rate in the UK in 2025 was 19%, above the European average of 17.4%, representing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C65A4"/>
                </a:solidFill>
                <a:latin typeface="Calibri"/>
              </a:rPr>
              <a:t>- </a:t>
            </a:r>
            <a:r>
              <a:rPr sz="1100">
                <a:solidFill>
                  <a:srgbClr val="1F2730"/>
                </a:solidFill>
                <a:latin typeface="Calibri"/>
              </a:rPr>
              <a:t>For India's top-5 IT services companies, the attrition rate has stabilized at approximately 13% as of FY2025...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C65A4"/>
                </a:solidFill>
                <a:latin typeface="Calibri"/>
              </a:rPr>
              <a:t>- </a:t>
            </a:r>
            <a:r>
              <a:rPr sz="1100">
                <a:solidFill>
                  <a:srgbClr val="1F2730"/>
                </a:solidFill>
                <a:latin typeface="Calibri"/>
              </a:rPr>
              <a:t>Consulting, legal, and IT roles have traditionally experienced high turnover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C65A4"/>
                </a:solidFill>
                <a:latin typeface="Calibri"/>
              </a:rPr>
              <a:t>- </a:t>
            </a:r>
            <a:r>
              <a:rPr sz="1100">
                <a:solidFill>
                  <a:srgbClr val="1F2730"/>
                </a:solidFill>
                <a:latin typeface="Calibri"/>
              </a:rPr>
              <a:t>Artificial intelligence is transforming attrition management from reactive to predictive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029968"/>
            <a:ext cx="3675887" cy="3520440"/>
          </a:xfrm>
          <a:prstGeom prst="roundRect">
            <a:avLst/>
          </a:prstGeom>
          <a:solidFill>
            <a:srgbClr val="E8EFF7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7" y="2359152"/>
            <a:ext cx="3108960" cy="29260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 i="0">
                <a:solidFill>
                  <a:srgbClr val="15304C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7" y="2816352"/>
            <a:ext cx="3127248" cy="1371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1F2730"/>
                </a:solidFill>
                <a:latin typeface="Calibri"/>
              </a:rPr>
              <a:t>Replacing employees is expensive and disruptive; preventing predictable turnover in key roles protects institutional knowledge and operational stability.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6291072"/>
            <a:ext cx="10881360" cy="10972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428232"/>
            <a:ext cx="73152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5E6974"/>
                </a:solidFill>
                <a:latin typeface="Calibri"/>
              </a:rPr>
              <a:t>Reducing Preventable Attrition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6428232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 i="0">
                <a:solidFill>
                  <a:srgbClr val="5E6974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74420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 i="0">
                <a:solidFill>
                  <a:srgbClr val="15304C"/>
                </a:solidFill>
                <a:latin typeface="Calibri"/>
              </a:rPr>
              <a:t>Sales ranks highest on Attrition Rate at 20.6%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87552"/>
            <a:ext cx="914400" cy="32004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1371600"/>
            <a:ext cx="3657600" cy="4526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664208"/>
            <a:ext cx="30632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 i="0">
                <a:solidFill>
                  <a:srgbClr val="15304C"/>
                </a:solidFill>
                <a:latin typeface="Calibri"/>
              </a:rPr>
              <a:t>Readout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084831"/>
            <a:ext cx="3054096" cy="8412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1F2730"/>
                </a:solidFill>
                <a:latin typeface="Calibri"/>
              </a:rPr>
              <a:t>Sales department attrition is 25.8%, highest among departments.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127248"/>
            <a:ext cx="3127248" cy="1920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Sales department attrition is 25.8%, highest among departments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Focus retention efforts on Sales department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Attrition Rate by Department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371600"/>
            <a:ext cx="6583680" cy="4526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554480"/>
            <a:ext cx="621792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l"/>
            <a:r>
              <a:rPr sz="1000" b="1">
                <a:solidFill>
                  <a:srgbClr val="15304C"/>
                </a:solidFill>
                <a:latin typeface="Calibri"/>
              </a:rPr>
              <a:t>Attrition Rate by Department</a:t>
            </a:r>
          </a:p>
        </p:txBody>
      </p:sp>
      <p:sp>
        <p:nvSpPr>
          <p:cNvPr id="10" name="reconstructed_chart_gridline"/>
          <p:cNvSpPr/>
          <p:nvPr/>
        </p:nvSpPr>
        <p:spPr>
          <a:xfrm>
            <a:off x="5193792" y="2011680"/>
            <a:ext cx="5742432" cy="5486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nstructed_chart_gridline"/>
          <p:cNvSpPr/>
          <p:nvPr/>
        </p:nvSpPr>
        <p:spPr>
          <a:xfrm>
            <a:off x="5193792" y="3020568"/>
            <a:ext cx="5742432" cy="5486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nstructed_chart_gridline"/>
          <p:cNvSpPr/>
          <p:nvPr/>
        </p:nvSpPr>
        <p:spPr>
          <a:xfrm>
            <a:off x="5193792" y="4029456"/>
            <a:ext cx="5742432" cy="5486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onstructed_chart_gridline"/>
          <p:cNvSpPr/>
          <p:nvPr/>
        </p:nvSpPr>
        <p:spPr>
          <a:xfrm>
            <a:off x="5193792" y="5038344"/>
            <a:ext cx="5742432" cy="5486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nstructed_chart_axis"/>
          <p:cNvSpPr/>
          <p:nvPr/>
        </p:nvSpPr>
        <p:spPr>
          <a:xfrm>
            <a:off x="5193792" y="5038344"/>
            <a:ext cx="5742432" cy="10972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onstructed_chart_bar"/>
          <p:cNvSpPr/>
          <p:nvPr/>
        </p:nvSpPr>
        <p:spPr>
          <a:xfrm>
            <a:off x="5193792" y="2957229"/>
            <a:ext cx="1865376" cy="2081114"/>
          </a:xfrm>
          <a:prstGeom prst="rect">
            <a:avLst/>
          </a:prstGeom>
          <a:solidFill>
            <a:srgbClr val="2C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2737773"/>
            <a:ext cx="1938528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00" b="0">
                <a:solidFill>
                  <a:srgbClr val="5E6974"/>
                </a:solidFill>
                <a:latin typeface="Calibri"/>
              </a:rPr>
              <a:t>0.206278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5093208"/>
            <a:ext cx="1975104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00" b="0">
                <a:solidFill>
                  <a:srgbClr val="5E6974"/>
                </a:solidFill>
                <a:latin typeface="Calibri"/>
              </a:rPr>
              <a:t>Sales</a:t>
            </a:r>
          </a:p>
        </p:txBody>
      </p:sp>
      <p:sp>
        <p:nvSpPr>
          <p:cNvPr id="18" name="reconstructed_chart_bar"/>
          <p:cNvSpPr/>
          <p:nvPr/>
        </p:nvSpPr>
        <p:spPr>
          <a:xfrm>
            <a:off x="7132320" y="3116652"/>
            <a:ext cx="1865376" cy="1921691"/>
          </a:xfrm>
          <a:prstGeom prst="rect">
            <a:avLst/>
          </a:prstGeom>
          <a:solidFill>
            <a:srgbClr val="35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5744" y="2897196"/>
            <a:ext cx="1938528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00" b="0">
                <a:solidFill>
                  <a:srgbClr val="5E6974"/>
                </a:solidFill>
                <a:latin typeface="Calibri"/>
              </a:rPr>
              <a:t>0.190476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5093208"/>
            <a:ext cx="1975104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00" b="0">
                <a:solidFill>
                  <a:srgbClr val="5E6974"/>
                </a:solidFill>
                <a:latin typeface="Calibri"/>
              </a:rPr>
              <a:t>Human Resources</a:t>
            </a:r>
          </a:p>
        </p:txBody>
      </p:sp>
      <p:sp>
        <p:nvSpPr>
          <p:cNvPr id="21" name="reconstructed_chart_bar"/>
          <p:cNvSpPr/>
          <p:nvPr/>
        </p:nvSpPr>
        <p:spPr>
          <a:xfrm>
            <a:off x="9070848" y="3642068"/>
            <a:ext cx="1865376" cy="1396275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34272" y="3422612"/>
            <a:ext cx="1938528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00" b="0">
                <a:solidFill>
                  <a:srgbClr val="5E6974"/>
                </a:solidFill>
                <a:latin typeface="Calibri"/>
              </a:rPr>
              <a:t>0.138398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5984" y="5093208"/>
            <a:ext cx="1975104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00" b="0">
                <a:solidFill>
                  <a:srgbClr val="5E6974"/>
                </a:solidFill>
                <a:latin typeface="Calibri"/>
              </a:rPr>
              <a:t>Research &amp;...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5550408"/>
            <a:ext cx="548640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00" b="0">
                <a:solidFill>
                  <a:srgbClr val="5E6974"/>
                </a:solidFill>
                <a:latin typeface="Calibri"/>
              </a:rPr>
              <a:t>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2896" y="1865376"/>
            <a:ext cx="146304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l"/>
            <a:r>
              <a:rPr sz="700" b="0">
                <a:solidFill>
                  <a:srgbClr val="5E6974"/>
                </a:solidFill>
                <a:latin typeface="Calibri"/>
              </a:rPr>
              <a:t>Attrition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6291072"/>
            <a:ext cx="10881360" cy="10972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428232"/>
            <a:ext cx="73152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5E6974"/>
                </a:solidFill>
                <a:latin typeface="Calibri"/>
              </a:rPr>
              <a:t>Reducing Preventable Attrition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6428232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 i="0">
                <a:solidFill>
                  <a:srgbClr val="5E6974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74420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 i="0">
                <a:solidFill>
                  <a:srgbClr val="15304C"/>
                </a:solidFill>
                <a:latin typeface="Calibri"/>
              </a:rPr>
              <a:t>Overtime employees have 30.5% attrition rate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87552"/>
            <a:ext cx="914400" cy="32004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1371600"/>
            <a:ext cx="6583680" cy="4526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554480"/>
            <a:ext cx="6217920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l"/>
            <a:r>
              <a:rPr sz="1000" b="1">
                <a:solidFill>
                  <a:srgbClr val="15304C"/>
                </a:solidFill>
                <a:latin typeface="Calibri"/>
              </a:rPr>
              <a:t>Attrition Rate by Overtime Status</a:t>
            </a:r>
          </a:p>
        </p:txBody>
      </p:sp>
      <p:sp>
        <p:nvSpPr>
          <p:cNvPr id="6" name="reconstructed_chart_gridline"/>
          <p:cNvSpPr/>
          <p:nvPr/>
        </p:nvSpPr>
        <p:spPr>
          <a:xfrm>
            <a:off x="1234440" y="2011680"/>
            <a:ext cx="5742432" cy="5486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onstructed_chart_gridline"/>
          <p:cNvSpPr/>
          <p:nvPr/>
        </p:nvSpPr>
        <p:spPr>
          <a:xfrm>
            <a:off x="1234440" y="3020568"/>
            <a:ext cx="5742432" cy="5486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onstructed_chart_gridline"/>
          <p:cNvSpPr/>
          <p:nvPr/>
        </p:nvSpPr>
        <p:spPr>
          <a:xfrm>
            <a:off x="1234440" y="4029456"/>
            <a:ext cx="5742432" cy="5486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onstructed_chart_gridline"/>
          <p:cNvSpPr/>
          <p:nvPr/>
        </p:nvSpPr>
        <p:spPr>
          <a:xfrm>
            <a:off x="1234440" y="5038344"/>
            <a:ext cx="5742432" cy="5486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onstructed_chart_axis"/>
          <p:cNvSpPr/>
          <p:nvPr/>
        </p:nvSpPr>
        <p:spPr>
          <a:xfrm>
            <a:off x="1234440" y="5038344"/>
            <a:ext cx="5742432" cy="10972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onstructed_chart_bar"/>
          <p:cNvSpPr/>
          <p:nvPr/>
        </p:nvSpPr>
        <p:spPr>
          <a:xfrm>
            <a:off x="1234440" y="2728330"/>
            <a:ext cx="2834640" cy="2310013"/>
          </a:xfrm>
          <a:prstGeom prst="rect">
            <a:avLst/>
          </a:prstGeom>
          <a:solidFill>
            <a:srgbClr val="2C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508874"/>
            <a:ext cx="2907792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00" b="0">
                <a:solidFill>
                  <a:srgbClr val="5E6974"/>
                </a:solidFill>
                <a:latin typeface="Calibri"/>
              </a:rPr>
              <a:t>0.305288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5093208"/>
            <a:ext cx="2944368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00" b="0">
                <a:solidFill>
                  <a:srgbClr val="5E6974"/>
                </a:solidFill>
                <a:latin typeface="Calibri"/>
              </a:rPr>
              <a:t>Yes</a:t>
            </a:r>
          </a:p>
        </p:txBody>
      </p:sp>
      <p:sp>
        <p:nvSpPr>
          <p:cNvPr id="14" name="reconstructed_chart_bar"/>
          <p:cNvSpPr/>
          <p:nvPr/>
        </p:nvSpPr>
        <p:spPr>
          <a:xfrm>
            <a:off x="4142232" y="4248654"/>
            <a:ext cx="2834640" cy="789689"/>
          </a:xfrm>
          <a:prstGeom prst="rect">
            <a:avLst/>
          </a:prstGeom>
          <a:solidFill>
            <a:srgbClr val="35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4029198"/>
            <a:ext cx="2907792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00" b="0">
                <a:solidFill>
                  <a:srgbClr val="5E6974"/>
                </a:solidFill>
                <a:latin typeface="Calibri"/>
              </a:rPr>
              <a:t>0.104364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5093208"/>
            <a:ext cx="2944368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00" b="0">
                <a:solidFill>
                  <a:srgbClr val="5E6974"/>
                </a:solidFill>
                <a:latin typeface="Calibri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5550408"/>
            <a:ext cx="548640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700" b="0">
                <a:solidFill>
                  <a:srgbClr val="5E6974"/>
                </a:solidFill>
                <a:latin typeface="Calibri"/>
              </a:rPr>
              <a:t>Overtime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1865376"/>
            <a:ext cx="146304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l"/>
            <a:r>
              <a:rPr sz="700" b="0">
                <a:solidFill>
                  <a:srgbClr val="5E6974"/>
                </a:solidFill>
                <a:latin typeface="Calibri"/>
              </a:rPr>
              <a:t>Attrition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1371600"/>
            <a:ext cx="3657600" cy="4526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7" y="1664208"/>
            <a:ext cx="30632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 i="0">
                <a:solidFill>
                  <a:srgbClr val="15304C"/>
                </a:solidFill>
                <a:latin typeface="Calibri"/>
              </a:rPr>
              <a:t>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2084831"/>
            <a:ext cx="3054096" cy="8412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1F2730"/>
                </a:solidFill>
                <a:latin typeface="Calibri"/>
              </a:rPr>
              <a:t>Overtime employees have 30.5% attrition rate.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127248"/>
            <a:ext cx="3127248" cy="1920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Overtime employees have 30.5% attrition rate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Manage overtime workload to reduce attrition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Attrition Rate by Overtime Status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291072"/>
            <a:ext cx="10881360" cy="10972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428232"/>
            <a:ext cx="73152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5E6974"/>
                </a:solidFill>
                <a:latin typeface="Calibri"/>
              </a:rPr>
              <a:t>Reducing Preventable Attrition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428232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 i="0">
                <a:solidFill>
                  <a:srgbClr val="5E6974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74420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000" b="1" i="0">
                <a:solidFill>
                  <a:srgbClr val="15304C"/>
                </a:solidFill>
                <a:latin typeface="Calibri"/>
              </a:rPr>
              <a:t>Sales department has the highest attrition rate (25.8%), followed by HR (23.1%)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87552"/>
            <a:ext cx="914400" cy="32004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1371600"/>
            <a:ext cx="6583680" cy="4526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ure_1_20260601_235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7" y="1741931"/>
            <a:ext cx="6309360" cy="37856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371600"/>
            <a:ext cx="3657600" cy="4526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64208"/>
            <a:ext cx="30632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400" b="1" i="0">
                <a:solidFill>
                  <a:srgbClr val="15304C"/>
                </a:solidFill>
                <a:latin typeface="Calibri"/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2127" y="2084831"/>
            <a:ext cx="3054096" cy="84124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1F2730"/>
                </a:solidFill>
                <a:latin typeface="Calibri"/>
              </a:rPr>
              <a:t>Sales department has the highest attrition rate (25.8%), followed by HR (23.1%).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3127248"/>
            <a:ext cx="3127248" cy="1920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2C65A4"/>
                </a:solidFill>
                <a:latin typeface="Calibri"/>
              </a:rPr>
              <a:t>- </a:t>
            </a:r>
            <a:r>
              <a:rPr sz="1000">
                <a:solidFill>
                  <a:srgbClr val="1F2730"/>
                </a:solidFill>
                <a:latin typeface="Calibri"/>
              </a:rPr>
              <a:t>Sales department has the highest attrition rate (25.8%), followed by HR (23.1%)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6291072"/>
            <a:ext cx="10881360" cy="10972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6428232"/>
            <a:ext cx="73152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5E6974"/>
                </a:solidFill>
                <a:latin typeface="Calibri"/>
              </a:rPr>
              <a:t>Reducing Preventable Attrition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428232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 i="0">
                <a:solidFill>
                  <a:srgbClr val="5E6974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74420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000" b="1" i="0">
                <a:solidFill>
                  <a:srgbClr val="15304C"/>
                </a:solidFill>
                <a:latin typeface="Calibri"/>
              </a:rPr>
              <a:t>Exploratory tree splits on TotalWorkingYears, JobRole Research Scientist, and 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87552"/>
            <a:ext cx="914400" cy="32004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10469880" cy="418795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shared_decision_tree_image" descr="decision_tree_rules_20260601_235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080" y="1458467"/>
            <a:ext cx="3725640" cy="3611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7552" y="5212080"/>
            <a:ext cx="10140696" cy="16459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700" b="0" i="0">
                <a:solidFill>
                  <a:srgbClr val="5E6974"/>
                </a:solidFill>
                <a:latin typeface="Calibri"/>
              </a:rPr>
              <a:t>Train Accuracy: 88.5% | Test Accuracy: 81.9% | Baseline Accuracy: 83.9%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5614416"/>
            <a:ext cx="10149840" cy="438912"/>
          </a:xfrm>
          <a:prstGeom prst="roundRect">
            <a:avLst/>
          </a:prstGeom>
          <a:solidFill>
            <a:srgbClr val="E8EFF7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5705856"/>
            <a:ext cx="978408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100" b="1" i="0">
                <a:solidFill>
                  <a:srgbClr val="15304C"/>
                </a:solidFill>
                <a:latin typeface="Calibri"/>
              </a:rPr>
              <a:t>Explanatory model only: test accuracy 81.9% trails the baseline 83.9%; use the rules to guide investigation, not production prediction.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6291072"/>
            <a:ext cx="10881360" cy="10972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6428232"/>
            <a:ext cx="73152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5E6974"/>
                </a:solidFill>
                <a:latin typeface="Calibri"/>
              </a:rPr>
              <a:t>Reducing Preventable Attrition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428232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 i="0">
                <a:solidFill>
                  <a:srgbClr val="5E6974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74420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000" b="1" i="0">
                <a:solidFill>
                  <a:srgbClr val="15304C"/>
                </a:solidFill>
                <a:latin typeface="Calibri"/>
              </a:rPr>
              <a:t>Three core evidence-based findings on what drives attrition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87552"/>
            <a:ext cx="914400" cy="32004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07008"/>
            <a:ext cx="10863072" cy="530352"/>
          </a:xfrm>
          <a:prstGeom prst="roundRect">
            <a:avLst/>
          </a:prstGeom>
          <a:solidFill>
            <a:srgbClr val="E8EFF7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280160"/>
            <a:ext cx="10607040" cy="42062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15304C"/>
                </a:solidFill>
                <a:latin typeface="Calibri"/>
              </a:rPr>
              <a:t>Attrition is predictable and concentrated, driven by specific work conditions rather than diffuse employee dissatisfaction.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240280"/>
            <a:ext cx="3154680" cy="3063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2240280"/>
            <a:ext cx="73152" cy="3063240"/>
          </a:xfrm>
          <a:prstGeom prst="rect">
            <a:avLst/>
          </a:prstGeom>
          <a:solidFill>
            <a:srgbClr val="2C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578608"/>
            <a:ext cx="260604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5E6974"/>
                </a:solidFill>
                <a:latin typeface="Calibri"/>
              </a:rPr>
              <a:t>Finding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999232"/>
            <a:ext cx="2606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1F2730"/>
                </a:solidFill>
                <a:latin typeface="Calibri"/>
              </a:rPr>
              <a:t>Sales department attrition is 25.8%, highest among departments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240280"/>
            <a:ext cx="3154680" cy="3063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2240280"/>
            <a:ext cx="73152" cy="3063240"/>
          </a:xfrm>
          <a:prstGeom prst="rect">
            <a:avLst/>
          </a:prstGeom>
          <a:solidFill>
            <a:srgbClr val="35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578608"/>
            <a:ext cx="260604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5E6974"/>
                </a:solidFill>
                <a:latin typeface="Calibri"/>
              </a:rPr>
              <a:t>Finding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99232"/>
            <a:ext cx="2606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1F2730"/>
                </a:solidFill>
                <a:latin typeface="Calibri"/>
              </a:rPr>
              <a:t>Frequent travelers have 24.5% attrition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2240280"/>
            <a:ext cx="3154680" cy="3063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36992" y="2240280"/>
            <a:ext cx="73152" cy="3063240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2578608"/>
            <a:ext cx="260604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5E6974"/>
                </a:solidFill>
                <a:latin typeface="Calibri"/>
              </a:rPr>
              <a:t>Finding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999232"/>
            <a:ext cx="2606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1F2730"/>
                </a:solidFill>
                <a:latin typeface="Calibri"/>
              </a:rPr>
              <a:t>Overtime employees have 30.5% attrition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291072"/>
            <a:ext cx="10881360" cy="10972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28232"/>
            <a:ext cx="73152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5E6974"/>
                </a:solidFill>
                <a:latin typeface="Calibri"/>
              </a:rPr>
              <a:t>Reducing Preventable Attrition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428232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 i="0">
                <a:solidFill>
                  <a:srgbClr val="5E6974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74420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 i="0">
                <a:solidFill>
                  <a:srgbClr val="15304C"/>
                </a:solidFill>
                <a:latin typeface="Calibri"/>
              </a:rPr>
              <a:t>Translate tree rules into intervention segments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87552"/>
            <a:ext cx="914400" cy="32004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07008"/>
            <a:ext cx="10863072" cy="530352"/>
          </a:xfrm>
          <a:prstGeom prst="roundRect">
            <a:avLst/>
          </a:prstGeom>
          <a:solidFill>
            <a:srgbClr val="E8EFF7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280160"/>
            <a:ext cx="10607040" cy="42062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15304C"/>
                </a:solidFill>
                <a:latin typeface="Calibri"/>
              </a:rPr>
              <a:t>Use model rules to define segments, channels, and monitoring criteria for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240280"/>
            <a:ext cx="3154680" cy="3063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2240280"/>
            <a:ext cx="73152" cy="3063240"/>
          </a:xfrm>
          <a:prstGeom prst="rect">
            <a:avLst/>
          </a:prstGeom>
          <a:solidFill>
            <a:srgbClr val="2C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578608"/>
            <a:ext cx="260604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5E6974"/>
                </a:solidFill>
                <a:latin typeface="Calibri"/>
              </a:rPr>
              <a:t>Finding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999232"/>
            <a:ext cx="2606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1F2730"/>
                </a:solidFill>
                <a:latin typeface="Calibri"/>
              </a:rPr>
              <a:t>Segment employees by model-extracted rule fields: TotalWorkingYears, JobRole Research Scientist, 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240280"/>
            <a:ext cx="3154680" cy="3063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2240280"/>
            <a:ext cx="73152" cy="3063240"/>
          </a:xfrm>
          <a:prstGeom prst="rect">
            <a:avLst/>
          </a:prstGeom>
          <a:solidFill>
            <a:srgbClr val="35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578608"/>
            <a:ext cx="260604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5E6974"/>
                </a:solidFill>
                <a:latin typeface="Calibri"/>
              </a:rPr>
              <a:t>Finding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99232"/>
            <a:ext cx="2606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1F2730"/>
                </a:solidFill>
                <a:latin typeface="Calibri"/>
              </a:rPr>
              <a:t>Use manager and HR review as the channel for high-risk rule segments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2240280"/>
            <a:ext cx="3154680" cy="30632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36992" y="2240280"/>
            <a:ext cx="73152" cy="3063240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2578608"/>
            <a:ext cx="260604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5E6974"/>
                </a:solidFill>
                <a:latin typeface="Calibri"/>
              </a:rPr>
              <a:t>Finding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999232"/>
            <a:ext cx="260604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 i="0">
                <a:solidFill>
                  <a:srgbClr val="1F2730"/>
                </a:solidFill>
                <a:latin typeface="Calibri"/>
              </a:rPr>
              <a:t>Monitor precision, recall, F1, and positive-class support before scaling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291072"/>
            <a:ext cx="10881360" cy="10972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28232"/>
            <a:ext cx="73152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5E6974"/>
                </a:solidFill>
                <a:latin typeface="Calibri"/>
              </a:rPr>
              <a:t>Reducing Preventable Attrition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428232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 i="0">
                <a:solidFill>
                  <a:srgbClr val="5E6974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74420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800" b="1" i="0">
                <a:solidFill>
                  <a:srgbClr val="15304C"/>
                </a:solidFill>
                <a:latin typeface="Calibri"/>
              </a:rPr>
              <a:t>Priority recommendations: Immediate actions to reduce attrition in the highest-risk segments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87552"/>
            <a:ext cx="914400" cy="32004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115568"/>
            <a:ext cx="10863072" cy="475488"/>
          </a:xfrm>
          <a:prstGeom prst="roundRect">
            <a:avLst/>
          </a:prstGeom>
          <a:solidFill>
            <a:srgbClr val="E8EFF7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188720"/>
            <a:ext cx="1060704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15304C"/>
                </a:solidFill>
                <a:latin typeface="Calibri"/>
              </a:rPr>
              <a:t>Launch a 90-day pilot focused on overtime and travel in Sales, then expand based on measured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011680"/>
            <a:ext cx="3154680" cy="3337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2011680"/>
            <a:ext cx="3154680" cy="109728"/>
          </a:xfrm>
          <a:prstGeom prst="rect">
            <a:avLst/>
          </a:prstGeom>
          <a:solidFill>
            <a:srgbClr val="2C6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69748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2C65A4"/>
                </a:solidFill>
                <a:latin typeface="Calibri"/>
              </a:rPr>
              <a:t>Priority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69748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15304C"/>
                </a:solidFill>
                <a:latin typeface="Calibri"/>
              </a:rPr>
              <a:t>Action: Launch an immediate audit and action plan for overtime practices in the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93008"/>
            <a:ext cx="2697480" cy="11155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1F2730"/>
                </a:solidFill>
                <a:latin typeface="Calibri"/>
              </a:rPr>
              <a:t>Owner: business owner | Trigger: segment enters the agreed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92040"/>
            <a:ext cx="269748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 i="0">
                <a:solidFill>
                  <a:srgbClr val="5E6974"/>
                </a:solidFill>
                <a:latin typeface="Calibri"/>
              </a:rPr>
              <a:t>Trigger + guardrail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011680"/>
            <a:ext cx="3154680" cy="3337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011680"/>
            <a:ext cx="3154680" cy="109728"/>
          </a:xfrm>
          <a:prstGeom prst="rect">
            <a:avLst/>
          </a:prstGeom>
          <a:solidFill>
            <a:srgbClr val="358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31720"/>
            <a:ext cx="269748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2C65A4"/>
                </a:solidFill>
                <a:latin typeface="Calibri"/>
              </a:rPr>
              <a:t>Priority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43200"/>
            <a:ext cx="269748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15304C"/>
                </a:solidFill>
                <a:latin typeface="Calibri"/>
              </a:rPr>
              <a:t>Action: Review and enhance support policies for employees who travel frequently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493008"/>
            <a:ext cx="2697480" cy="11155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1F2730"/>
                </a:solidFill>
                <a:latin typeface="Calibri"/>
              </a:rPr>
              <a:t>Owner: business owner | Trigger: segment enters the agreed intervention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892040"/>
            <a:ext cx="269748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 i="0">
                <a:solidFill>
                  <a:srgbClr val="5E6974"/>
                </a:solidFill>
                <a:latin typeface="Calibri"/>
              </a:rPr>
              <a:t>Trigger + guardrail required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36992" y="2011680"/>
            <a:ext cx="3154680" cy="33375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36992" y="2011680"/>
            <a:ext cx="3154680" cy="109728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331720"/>
            <a:ext cx="269748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2C65A4"/>
                </a:solidFill>
                <a:latin typeface="Calibri"/>
              </a:rPr>
              <a:t>Priority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743200"/>
            <a:ext cx="2697480" cy="56692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 i="0">
                <a:solidFill>
                  <a:srgbClr val="15304C"/>
                </a:solidFill>
                <a:latin typeface="Calibri"/>
              </a:rPr>
              <a:t>Action: Initiate a retention-focused review with the HR and Sales department leadership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493008"/>
            <a:ext cx="2697480" cy="11155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1F2730"/>
                </a:solidFill>
                <a:latin typeface="Calibri"/>
              </a:rPr>
              <a:t>Owner: business owner | Trigger: segment enters the agreed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92040"/>
            <a:ext cx="2697480" cy="219456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1" i="0">
                <a:solidFill>
                  <a:srgbClr val="5E6974"/>
                </a:solidFill>
                <a:latin typeface="Calibri"/>
              </a:rPr>
              <a:t>Trigger + guardrail required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291072"/>
            <a:ext cx="10881360" cy="10972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428232"/>
            <a:ext cx="73152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5E6974"/>
                </a:solidFill>
                <a:latin typeface="Calibri"/>
              </a:rPr>
              <a:t>Reducing Preventable Attrition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6428232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 i="0">
                <a:solidFill>
                  <a:srgbClr val="5E6974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744200" cy="6583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800" b="1" i="0">
                <a:solidFill>
                  <a:srgbClr val="15304C"/>
                </a:solidFill>
                <a:latin typeface="Calibri"/>
              </a:rPr>
              <a:t>Limitations and responsible use: Model identifies high-risk groups, not individual fate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987552"/>
            <a:ext cx="914400" cy="32004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07008"/>
            <a:ext cx="10863072" cy="530352"/>
          </a:xfrm>
          <a:prstGeom prst="roundRect">
            <a:avLst/>
          </a:prstGeom>
          <a:solidFill>
            <a:srgbClr val="E8EFF7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280160"/>
            <a:ext cx="10607040" cy="420623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100" b="1" i="0">
                <a:solidFill>
                  <a:srgbClr val="15304C"/>
                </a:solidFill>
                <a:latin typeface="Calibri"/>
              </a:rPr>
              <a:t>Use insights to guide supportive program design for segments, not for individual performance management or automated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21408"/>
            <a:ext cx="4828032" cy="11155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1280160" cy="2103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 i="0">
                <a:solidFill>
                  <a:srgbClr val="A8534C"/>
                </a:solidFill>
                <a:latin typeface="Calibri"/>
              </a:rPr>
              <a:t>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96896"/>
            <a:ext cx="4389120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F2730"/>
                </a:solidFill>
                <a:latin typeface="Calibri"/>
              </a:rPr>
              <a:t>Explanatory model only: test accuracy 81.9% trails the baseline 83.9%; use the rules 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21408"/>
            <a:ext cx="4828032" cy="11155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276856"/>
            <a:ext cx="1280160" cy="2103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 i="0">
                <a:solidFill>
                  <a:srgbClr val="A8534C"/>
                </a:solidFill>
                <a:latin typeface="Calibri"/>
              </a:rPr>
              <a:t>Limitation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96896"/>
            <a:ext cx="4389120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F2730"/>
                </a:solidFill>
                <a:latin typeface="Calibri"/>
              </a:rPr>
              <a:t>The predictive model's accuracy (81.9% test accuracy) is insufficient for reliably scoring individual employee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94176"/>
            <a:ext cx="4828032" cy="11155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49624"/>
            <a:ext cx="1280160" cy="2103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 i="0">
                <a:solidFill>
                  <a:srgbClr val="A8534C"/>
                </a:solidFill>
                <a:latin typeface="Calibri"/>
              </a:rPr>
              <a:t>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69664"/>
            <a:ext cx="4389120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F2730"/>
                </a:solidFill>
                <a:latin typeface="Calibri"/>
              </a:rPr>
              <a:t>The data is a static snapshot; it does not capture the temporal trends 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694176"/>
            <a:ext cx="4828032" cy="11155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1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49624"/>
            <a:ext cx="1280160" cy="2103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1" i="0">
                <a:solidFill>
                  <a:srgbClr val="A8534C"/>
                </a:solidFill>
                <a:latin typeface="Calibri"/>
              </a:rPr>
              <a:t>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169664"/>
            <a:ext cx="4389120" cy="42062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 i="0">
                <a:solidFill>
                  <a:srgbClr val="1F2730"/>
                </a:solidFill>
                <a:latin typeface="Calibri"/>
              </a:rPr>
              <a:t>Analysis shows correlation, not causation. While overtime and attrition are strongly linked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291072"/>
            <a:ext cx="10881360" cy="10972"/>
          </a:xfrm>
          <a:prstGeom prst="rect">
            <a:avLst/>
          </a:prstGeom>
          <a:solidFill>
            <a:srgbClr val="D1D7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428232"/>
            <a:ext cx="73152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5E6974"/>
                </a:solidFill>
                <a:latin typeface="Calibri"/>
              </a:rPr>
              <a:t>Reducing Preventable Attrition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428232"/>
            <a:ext cx="17373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800" b="0" i="0">
                <a:solidFill>
                  <a:srgbClr val="5E6974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30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" cy="6858000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133856"/>
            <a:ext cx="1014984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libri"/>
              </a:rPr>
              <a:t>Summary: Preventable attrition is concentrated and addressable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" y="2121408"/>
            <a:ext cx="9966960" cy="36576"/>
          </a:xfrm>
          <a:prstGeom prst="rect">
            <a:avLst/>
          </a:prstGeom>
          <a:solidFill>
            <a:srgbClr val="BB9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2487168"/>
            <a:ext cx="950976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0" i="0">
                <a:solidFill>
                  <a:srgbClr val="E8EFF7"/>
                </a:solidFill>
                <a:latin typeface="Calibri"/>
              </a:rPr>
              <a:t>By targeting the 16% of employees in high-risk segments defined by overtime and travel, we can launch focused, high-impact retention programs within the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896112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BB9241"/>
                </a:solidFill>
                <a:latin typeface="Calibri"/>
              </a:rPr>
              <a:t>- </a:t>
            </a:r>
            <a:r>
              <a:rPr sz="1200">
                <a:solidFill>
                  <a:srgbClr val="FFFFFF"/>
                </a:solidFill>
                <a:latin typeface="Calibri"/>
              </a:rPr>
              <a:t>Sales department attrition is 25.8%, highest among departments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BB9241"/>
                </a:solidFill>
                <a:latin typeface="Calibri"/>
              </a:rPr>
              <a:t>- </a:t>
            </a:r>
            <a:r>
              <a:rPr sz="1200">
                <a:solidFill>
                  <a:srgbClr val="FFFFFF"/>
                </a:solidFill>
                <a:latin typeface="Calibri"/>
              </a:rPr>
              <a:t>Approve and fund the 60-day overtime audit in Sales and the 90-day travel policy review as the highest-priority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BB9241"/>
                </a:solidFill>
                <a:latin typeface="Calibri"/>
              </a:rPr>
              <a:t>- </a:t>
            </a:r>
            <a:r>
              <a:rPr sz="1200">
                <a:solidFill>
                  <a:srgbClr val="FFFFFF"/>
                </a:solidFill>
                <a:latin typeface="Calibri"/>
              </a:rPr>
              <a:t>Employee attrition is a manageable cost center, not an inevitable 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6236208"/>
            <a:ext cx="6217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900" b="0" i="0">
                <a:solidFill>
                  <a:srgbClr val="E8EFF7"/>
                </a:solidFill>
                <a:latin typeface="Calibri"/>
              </a:rPr>
              <a:t>Generated by the Multi-Agent Analytics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6236208"/>
            <a:ext cx="164592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/>
            <a:r>
              <a:rPr sz="900" b="0" i="0">
                <a:solidFill>
                  <a:srgbClr val="E8EFF7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