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0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" cy="6858000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0"/>
            <a:ext cx="3136392" cy="6858000"/>
          </a:xfrm>
          <a:prstGeom prst="rect">
            <a:avLst/>
          </a:prstGeom>
          <a:solidFill>
            <a:srgbClr val="2C6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30352"/>
            <a:ext cx="530352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900" b="1" i="0">
                <a:solidFill>
                  <a:srgbClr val="E8EFF7"/>
                </a:solidFill>
                <a:latin typeface="Calibri"/>
              </a:rPr>
              <a:t>MULTI-AGENT ANALYTICS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2139696"/>
            <a:ext cx="1152144" cy="36576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377440"/>
            <a:ext cx="7726679" cy="1325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4160520"/>
            <a:ext cx="7223760" cy="7772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400" b="0" i="0">
                <a:solidFill>
                  <a:srgbClr val="E8EFF7"/>
                </a:solidFill>
                <a:latin typeface="Calibri"/>
              </a:rPr>
              <a:t>Analysis for Business Decision-Makers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6144768"/>
            <a:ext cx="39319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900" b="0" i="0">
                <a:solidFill>
                  <a:srgbClr val="E8EFF7"/>
                </a:solidFill>
                <a:latin typeface="Calibri"/>
              </a:rPr>
              <a:t>June 26,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08592" y="2542032"/>
            <a:ext cx="2331720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EXECUTIVE
DECISION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1074420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000" b="1" i="0">
                <a:solidFill>
                  <a:srgbClr val="15304C"/>
                </a:solidFill>
                <a:latin typeface="Calibri"/>
              </a:rPr>
              <a:t>Foundation: A Complete, High-Quality Dataset Spanning 17 Years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914400" cy="32004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207008"/>
            <a:ext cx="10863072" cy="530352"/>
          </a:xfrm>
          <a:prstGeom prst="roundRect">
            <a:avLst/>
          </a:prstGeom>
          <a:solidFill>
            <a:srgbClr val="E8EFF7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280160"/>
            <a:ext cx="10607040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15304C"/>
                </a:solidFill>
                <a:latin typeface="Calibri"/>
              </a:rPr>
              <a:t>148,320 hourly records provide a robust, clean basis for modeling solar radiation and its key weather drivers.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901952"/>
            <a:ext cx="2331720" cy="96012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84831"/>
            <a:ext cx="210312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 i="0">
                <a:solidFill>
                  <a:srgbClr val="2C65A4"/>
                </a:solidFill>
                <a:latin typeface="Calibri"/>
              </a:rPr>
              <a:t>148320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32304"/>
            <a:ext cx="21031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0" i="0">
                <a:solidFill>
                  <a:srgbClr val="5E6974"/>
                </a:solidFill>
                <a:latin typeface="Calibri"/>
              </a:rPr>
              <a:t>Rows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901952"/>
            <a:ext cx="2331720" cy="96012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2736" y="2084831"/>
            <a:ext cx="210312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 i="0">
                <a:solidFill>
                  <a:srgbClr val="2C65A4"/>
                </a:solidFill>
                <a:latin typeface="Calibri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2736" y="2432304"/>
            <a:ext cx="21031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0" i="0">
                <a:solidFill>
                  <a:srgbClr val="5E6974"/>
                </a:solidFill>
                <a:latin typeface="Calibri"/>
              </a:rPr>
              <a:t>Columns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901952"/>
            <a:ext cx="2331720" cy="96012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5936" y="2084831"/>
            <a:ext cx="210312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 i="0">
                <a:solidFill>
                  <a:srgbClr val="2C65A4"/>
                </a:solidFill>
                <a:latin typeface="Calibri"/>
              </a:rPr>
              <a:t>CLRSKY_SFC_SW_DWN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2432304"/>
            <a:ext cx="21031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0" i="0">
                <a:solidFill>
                  <a:srgbClr val="5E6974"/>
                </a:solidFill>
                <a:latin typeface="Calibri"/>
              </a:rPr>
              <a:t>Target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3246120"/>
            <a:ext cx="6629400" cy="233172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93008"/>
            <a:ext cx="420624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300" b="1" i="0">
                <a:solidFill>
                  <a:srgbClr val="15304C"/>
                </a:solidFill>
                <a:latin typeface="Calibri"/>
              </a:rPr>
              <a:t>What the data represents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913632"/>
            <a:ext cx="6144768" cy="1325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weather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Key fields include YEAR, MO, DY, HR, CLRSKY_SFC_SW_DWN, T2M, RH2M, WS10M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Target field is CLRSKY_SFC_SW_DWN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3246120"/>
            <a:ext cx="3611880" cy="2331720"/>
          </a:xfrm>
          <a:prstGeom prst="roundRect">
            <a:avLst/>
          </a:prstGeom>
          <a:solidFill>
            <a:srgbClr val="F7EFDC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3493008"/>
            <a:ext cx="306324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300" b="1" i="0">
                <a:solidFill>
                  <a:srgbClr val="15304C"/>
                </a:solidFill>
                <a:latin typeface="Calibri"/>
              </a:rPr>
              <a:t>Quality note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913632"/>
            <a:ext cx="3063240" cy="1325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Dataset has 148,320 hourly weather records from 2007 to 2023 with no missing values or duplicates.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Combine YEAR, MO, DY, HR into a single datetime column for time series analysis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Investigate outliers in T2M and WS10M for data validity or extreme weather events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YEAR, MO, DY, HR are discrete numeric columns representing date and time components...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291072"/>
            <a:ext cx="10881360" cy="10972"/>
          </a:xfrm>
          <a:prstGeom prst="rect">
            <a:avLst/>
          </a:prstGeom>
          <a:solidFill>
            <a:srgbClr val="D1D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428232"/>
            <a:ext cx="731520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 i="0">
                <a:solidFill>
                  <a:srgbClr val="5E6974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428232"/>
            <a:ext cx="173736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 i="0">
                <a:solidFill>
                  <a:srgbClr val="5E6974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1074420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 i="0">
                <a:solidFill>
                  <a:srgbClr val="15304C"/>
                </a:solidFill>
                <a:latin typeface="Calibri"/>
              </a:rPr>
              <a:t>Market Context: Weather Data is a Critical Input for Energy, Agriculture, and Logistics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914400" cy="32004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207008"/>
            <a:ext cx="10863072" cy="530352"/>
          </a:xfrm>
          <a:prstGeom prst="roundRect">
            <a:avLst/>
          </a:prstGeom>
          <a:solidFill>
            <a:srgbClr val="E8EFF7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280160"/>
            <a:ext cx="10607040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15304C"/>
                </a:solidFill>
                <a:latin typeface="Calibri"/>
              </a:rPr>
              <a:t>Short-range forecasting drives daily operations; solar radiation prediction is directly linked to renewable energy yield and outdoor activity 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2029968"/>
            <a:ext cx="6492240" cy="35204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5" y="2359152"/>
            <a:ext cx="59893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2C65A4"/>
                </a:solidFill>
                <a:latin typeface="Calibri"/>
              </a:rPr>
              <a:t>- </a:t>
            </a:r>
            <a:r>
              <a:rPr sz="1100">
                <a:solidFill>
                  <a:srgbClr val="1F2730"/>
                </a:solidFill>
                <a:latin typeface="Calibri"/>
              </a:rPr>
              <a:t>Short-range weather forecasting (1-3 days) holds a 34.24% market share in 2026 and is expected to depict the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2C65A4"/>
                </a:solidFill>
                <a:latin typeface="Calibri"/>
              </a:rPr>
              <a:t>- </a:t>
            </a:r>
            <a:r>
              <a:rPr sz="1100">
                <a:solidFill>
                  <a:srgbClr val="1F2730"/>
                </a:solidFill>
                <a:latin typeface="Calibri"/>
              </a:rPr>
              <a:t>The short-range forecasting segment is anticipated to witness a significant CAGR of over 7% from 2026 to 2033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2C65A4"/>
                </a:solidFill>
                <a:latin typeface="Calibri"/>
              </a:rPr>
              <a:t>- </a:t>
            </a:r>
            <a:r>
              <a:rPr sz="1100">
                <a:solidFill>
                  <a:srgbClr val="1F2730"/>
                </a:solidFill>
                <a:latin typeface="Calibri"/>
              </a:rPr>
              <a:t>Extreme weather is ranked among the top risks for global business in 2026, just behind geopolitical conflict, per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2C65A4"/>
                </a:solidFill>
                <a:latin typeface="Calibri"/>
              </a:rPr>
              <a:t>- </a:t>
            </a:r>
            <a:r>
              <a:rPr sz="1100">
                <a:solidFill>
                  <a:srgbClr val="1F2730"/>
                </a:solidFill>
                <a:latin typeface="Calibri"/>
              </a:rPr>
              <a:t>Extreme weather events are pressing global risks that necessitate business strategies for climate volatility and...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029968"/>
            <a:ext cx="3675887" cy="3520440"/>
          </a:xfrm>
          <a:prstGeom prst="roundRect">
            <a:avLst/>
          </a:prstGeom>
          <a:solidFill>
            <a:srgbClr val="E8EFF7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2359152"/>
            <a:ext cx="310896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400" b="1" i="0">
                <a:solidFill>
                  <a:srgbClr val="15304C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127" y="2816352"/>
            <a:ext cx="3127248" cy="1371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 i="0">
                <a:solidFill>
                  <a:srgbClr val="1F2730"/>
                </a:solidFill>
                <a:latin typeface="Calibri"/>
              </a:rPr>
              <a:t>Short-range forecasting drives daily operations; solar radiation prediction is directly linked to renewable energy yield and outdoor activity scheduling.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10881360" cy="10972"/>
          </a:xfrm>
          <a:prstGeom prst="rect">
            <a:avLst/>
          </a:prstGeom>
          <a:solidFill>
            <a:srgbClr val="D1D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28232"/>
            <a:ext cx="731520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 i="0">
                <a:solidFill>
                  <a:srgbClr val="5E6974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428232"/>
            <a:ext cx="173736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 i="0">
                <a:solidFill>
                  <a:srgbClr val="5E6974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1074420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000" b="1" i="0">
                <a:solidFill>
                  <a:srgbClr val="15304C"/>
                </a:solidFill>
                <a:latin typeface="Calibri"/>
              </a:rPr>
              <a:t>Monthly temperature shows warming trend from 2007-2023 with seasonal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914400" cy="32004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1371600"/>
            <a:ext cx="6583680" cy="45262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ure_1_20260626_1815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7" y="1902675"/>
            <a:ext cx="6309360" cy="34641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371600"/>
            <a:ext cx="3657600" cy="45262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2127" y="1664208"/>
            <a:ext cx="306324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400" b="1" i="0">
                <a:solidFill>
                  <a:srgbClr val="15304C"/>
                </a:solidFill>
                <a:latin typeface="Calibri"/>
              </a:rPr>
              <a:t>Insight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2127" y="2084831"/>
            <a:ext cx="3054096" cy="8412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1" i="0">
                <a:solidFill>
                  <a:srgbClr val="1F2730"/>
                </a:solidFill>
                <a:latin typeface="Calibri"/>
              </a:rPr>
              <a:t>Monthly temperature shows warming trend from 2007-2023 with seasonal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3127248"/>
            <a:ext cx="3127248" cy="1920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Monthly temperature shows warming trend from 2007-2023 with seasonal cycles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6291072"/>
            <a:ext cx="10881360" cy="10972"/>
          </a:xfrm>
          <a:prstGeom prst="rect">
            <a:avLst/>
          </a:prstGeom>
          <a:solidFill>
            <a:srgbClr val="D1D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28232"/>
            <a:ext cx="731520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 i="0">
                <a:solidFill>
                  <a:srgbClr val="5E6974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28232"/>
            <a:ext cx="173736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 i="0">
                <a:solidFill>
                  <a:srgbClr val="5E6974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1074420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000" b="1" i="0">
                <a:solidFill>
                  <a:srgbClr val="15304C"/>
                </a:solidFill>
                <a:latin typeface="Calibri"/>
              </a:rPr>
              <a:t>Clear seasonal pattern with peak temperatures in summer months (June-August)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914400" cy="32004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1371600"/>
            <a:ext cx="3657600" cy="45262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664208"/>
            <a:ext cx="306324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400" b="1" i="0">
                <a:solidFill>
                  <a:srgbClr val="15304C"/>
                </a:solidFill>
                <a:latin typeface="Calibri"/>
              </a:rPr>
              <a:t>Readout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084831"/>
            <a:ext cx="3054096" cy="8412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1" i="0">
                <a:solidFill>
                  <a:srgbClr val="1F2730"/>
                </a:solidFill>
                <a:latin typeface="Calibri"/>
              </a:rPr>
              <a:t>Clear seasonal pattern with peak temperatures in summer months (June-August).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3127248"/>
            <a:ext cx="3127248" cy="1920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Clear seasonal pattern with peak temperatures in summer months (June-August)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371600"/>
            <a:ext cx="6583680" cy="45262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_2_20260626_1815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83322"/>
            <a:ext cx="6309360" cy="410283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6291072"/>
            <a:ext cx="10881360" cy="10972"/>
          </a:xfrm>
          <a:prstGeom prst="rect">
            <a:avLst/>
          </a:prstGeom>
          <a:solidFill>
            <a:srgbClr val="D1D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28232"/>
            <a:ext cx="731520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 i="0">
                <a:solidFill>
                  <a:srgbClr val="5E6974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28232"/>
            <a:ext cx="173736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 i="0">
                <a:solidFill>
                  <a:srgbClr val="5E6974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1074420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000" b="1" i="0">
                <a:solidFill>
                  <a:srgbClr val="15304C"/>
                </a:solidFill>
                <a:latin typeface="Calibri"/>
              </a:rPr>
              <a:t>Solar radiation follows expected diurnal cycle, peaking at midday hours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914400" cy="32004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1371600"/>
            <a:ext cx="6583680" cy="45262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ure_3_20260626_1815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7" y="1599822"/>
            <a:ext cx="6309360" cy="406983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371600"/>
            <a:ext cx="3657600" cy="45262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2127" y="1664208"/>
            <a:ext cx="306324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400" b="1" i="0">
                <a:solidFill>
                  <a:srgbClr val="15304C"/>
                </a:solidFill>
                <a:latin typeface="Calibri"/>
              </a:rPr>
              <a:t>Insight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2127" y="2084831"/>
            <a:ext cx="3054096" cy="8412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1" i="0">
                <a:solidFill>
                  <a:srgbClr val="1F2730"/>
                </a:solidFill>
                <a:latin typeface="Calibri"/>
              </a:rPr>
              <a:t>Solar radiation follows expected diurnal cycle, peaking at midday hours.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3127248"/>
            <a:ext cx="3127248" cy="1920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Solar radiation follows expected diurnal cycle, peaking at midday hours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6291072"/>
            <a:ext cx="10881360" cy="10972"/>
          </a:xfrm>
          <a:prstGeom prst="rect">
            <a:avLst/>
          </a:prstGeom>
          <a:solidFill>
            <a:srgbClr val="D1D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28232"/>
            <a:ext cx="731520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 i="0">
                <a:solidFill>
                  <a:srgbClr val="5E6974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28232"/>
            <a:ext cx="173736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 i="0">
                <a:solidFill>
                  <a:srgbClr val="5E6974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1074420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300" b="1" i="0">
                <a:solidFill>
                  <a:srgbClr val="15304C"/>
                </a:solidFill>
                <a:latin typeface="Calibri"/>
              </a:rPr>
              <a:t>Exploratory tree splits on T2M, RH2M, and hour of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914400" cy="32004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1371600"/>
            <a:ext cx="6583680" cy="45262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hared_decision_tree_image" descr="decision_tree_rules_20260626_1815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336" y="1531619"/>
            <a:ext cx="4074624" cy="3950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623560"/>
            <a:ext cx="6254496" cy="1645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700" b="0" i="0">
                <a:solidFill>
                  <a:srgbClr val="5E6974"/>
                </a:solidFill>
                <a:latin typeface="Calibri"/>
              </a:rPr>
              <a:t>Train R2: 0.922 | Test R2: 0.922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371600"/>
            <a:ext cx="3657600" cy="45262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7" y="1664208"/>
            <a:ext cx="306324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400" b="1" i="0">
                <a:solidFill>
                  <a:srgbClr val="15304C"/>
                </a:solidFill>
                <a:latin typeface="Calibri"/>
              </a:rPr>
              <a:t>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7" y="2084831"/>
            <a:ext cx="3054096" cy="8412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1" i="0">
                <a:solidFill>
                  <a:srgbClr val="1F2730"/>
                </a:solidFill>
                <a:latin typeface="Calibri"/>
              </a:rPr>
              <a:t>Exploratory screening only: validate precision, recall, F1, and support before operational 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552" y="3127248"/>
            <a:ext cx="3127248" cy="1920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Exploratory tree splits on T2M, RH2M, and hour of day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Exploratory screening only: validate precision, recall, F1, and support before operational use.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65A4"/>
                </a:solidFill>
                <a:latin typeface="Calibri"/>
              </a:rPr>
              <a:t>- </a:t>
            </a:r>
            <a:r>
              <a:rPr sz="1000">
                <a:solidFill>
                  <a:srgbClr val="1F2730"/>
                </a:solidFill>
                <a:latin typeface="Calibri"/>
              </a:rPr>
              <a:t>Solar Radiation Prediction 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10881360" cy="10972"/>
          </a:xfrm>
          <a:prstGeom prst="rect">
            <a:avLst/>
          </a:prstGeom>
          <a:solidFill>
            <a:srgbClr val="D1D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28232"/>
            <a:ext cx="731520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 i="0">
                <a:solidFill>
                  <a:srgbClr val="5E6974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428232"/>
            <a:ext cx="173736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 i="0">
                <a:solidFill>
                  <a:srgbClr val="5E6974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1074420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300" b="1" i="0">
                <a:solidFill>
                  <a:srgbClr val="15304C"/>
                </a:solidFill>
                <a:latin typeface="Calibri"/>
              </a:rPr>
              <a:t>Decision tree rules summarize model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914400" cy="32004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207008"/>
            <a:ext cx="10863072" cy="530352"/>
          </a:xfrm>
          <a:prstGeom prst="roundRect">
            <a:avLst/>
          </a:prstGeom>
          <a:solidFill>
            <a:srgbClr val="E8EFF7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280160"/>
            <a:ext cx="10607040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15304C"/>
                </a:solidFill>
                <a:latin typeface="Calibri"/>
              </a:rPr>
              <a:t>Exploratory screening only: validate precision, recall, F1, and support before operational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2240280"/>
            <a:ext cx="3154680" cy="30632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2240280"/>
            <a:ext cx="73152" cy="3063240"/>
          </a:xfrm>
          <a:prstGeom prst="rect">
            <a:avLst/>
          </a:prstGeom>
          <a:solidFill>
            <a:srgbClr val="2C6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578608"/>
            <a:ext cx="260604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5E6974"/>
                </a:solidFill>
                <a:latin typeface="Calibri"/>
              </a:rPr>
              <a:t>Finding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999232"/>
            <a:ext cx="2606040" cy="12801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1" i="0">
                <a:solidFill>
                  <a:srgbClr val="1F2730"/>
                </a:solidFill>
                <a:latin typeface="Calibri"/>
              </a:rPr>
              <a:t>Decision tree rules summarize model logic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240280"/>
            <a:ext cx="3154680" cy="30632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2240280"/>
            <a:ext cx="73152" cy="3063240"/>
          </a:xfrm>
          <a:prstGeom prst="rect">
            <a:avLst/>
          </a:prstGeom>
          <a:solidFill>
            <a:srgbClr val="35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578608"/>
            <a:ext cx="260604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5E6974"/>
                </a:solidFill>
                <a:latin typeface="Calibri"/>
              </a:rPr>
              <a:t>Finding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999232"/>
            <a:ext cx="2606040" cy="12801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 i="0">
                <a:solidFill>
                  <a:srgbClr val="1F2730"/>
                </a:solidFill>
                <a:latin typeface="Calibri"/>
              </a:rPr>
              <a:t>Exploratory screening only: validate precision, recall, F1, and support before operational 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10881360" cy="10972"/>
          </a:xfrm>
          <a:prstGeom prst="rect">
            <a:avLst/>
          </a:prstGeom>
          <a:solidFill>
            <a:srgbClr val="D1D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28232"/>
            <a:ext cx="731520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 i="0">
                <a:solidFill>
                  <a:srgbClr val="5E6974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6428232"/>
            <a:ext cx="173736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 i="0">
                <a:solidFill>
                  <a:srgbClr val="5E6974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1074420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300" b="1" i="0">
                <a:solidFill>
                  <a:srgbClr val="15304C"/>
                </a:solidFill>
                <a:latin typeface="Calibri"/>
              </a:rPr>
              <a:t>Translate tree rules into intervention segments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914400" cy="32004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207008"/>
            <a:ext cx="10863072" cy="530352"/>
          </a:xfrm>
          <a:prstGeom prst="roundRect">
            <a:avLst/>
          </a:prstGeom>
          <a:solidFill>
            <a:srgbClr val="E8EFF7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280160"/>
            <a:ext cx="10607040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15304C"/>
                </a:solidFill>
                <a:latin typeface="Calibri"/>
              </a:rPr>
              <a:t>Use model rules to define segments, channels, and monitoring criteria for validation.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2240280"/>
            <a:ext cx="3154680" cy="30632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2240280"/>
            <a:ext cx="73152" cy="3063240"/>
          </a:xfrm>
          <a:prstGeom prst="rect">
            <a:avLst/>
          </a:prstGeom>
          <a:solidFill>
            <a:srgbClr val="2C6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578608"/>
            <a:ext cx="260604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5E6974"/>
                </a:solidFill>
                <a:latin typeface="Calibri"/>
              </a:rPr>
              <a:t>Finding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999232"/>
            <a:ext cx="2606040" cy="12801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1" i="0">
                <a:solidFill>
                  <a:srgbClr val="1F2730"/>
                </a:solidFill>
                <a:latin typeface="Calibri"/>
              </a:rPr>
              <a:t>Segment records by model-extracted rule fields: T2M, RH2M, hour of 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240280"/>
            <a:ext cx="3154680" cy="30632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2240280"/>
            <a:ext cx="73152" cy="3063240"/>
          </a:xfrm>
          <a:prstGeom prst="rect">
            <a:avLst/>
          </a:prstGeom>
          <a:solidFill>
            <a:srgbClr val="35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578608"/>
            <a:ext cx="260604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5E6974"/>
                </a:solidFill>
                <a:latin typeface="Calibri"/>
              </a:rPr>
              <a:t>Finding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999232"/>
            <a:ext cx="2606040" cy="12801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 i="0">
                <a:solidFill>
                  <a:srgbClr val="1F2730"/>
                </a:solidFill>
                <a:latin typeface="Calibri"/>
              </a:rPr>
              <a:t>Use owner review as the channel for high-risk rule segments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240280"/>
            <a:ext cx="3154680" cy="30632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36992" y="2240280"/>
            <a:ext cx="73152" cy="3063240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578608"/>
            <a:ext cx="260604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5E6974"/>
                </a:solidFill>
                <a:latin typeface="Calibri"/>
              </a:rPr>
              <a:t>Finding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2999232"/>
            <a:ext cx="2606040" cy="12801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 i="0">
                <a:solidFill>
                  <a:srgbClr val="1F2730"/>
                </a:solidFill>
                <a:latin typeface="Calibri"/>
              </a:rPr>
              <a:t>Monitor precision, recall, F1, and positive-class support before scaling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10881360" cy="10972"/>
          </a:xfrm>
          <a:prstGeom prst="rect">
            <a:avLst/>
          </a:prstGeom>
          <a:solidFill>
            <a:srgbClr val="D1D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28232"/>
            <a:ext cx="731520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 i="0">
                <a:solidFill>
                  <a:srgbClr val="5E6974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428232"/>
            <a:ext cx="173736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 i="0">
                <a:solidFill>
                  <a:srgbClr val="5E6974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1074420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000" b="1" i="0">
                <a:solidFill>
                  <a:srgbClr val="15304C"/>
                </a:solidFill>
                <a:latin typeface="Calibri"/>
              </a:rPr>
              <a:t>Recommendations: Deploy Forecasting Tool and Rule-Based Scheduler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914400" cy="32004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115568"/>
            <a:ext cx="10863072" cy="475488"/>
          </a:xfrm>
          <a:prstGeom prst="roundRect">
            <a:avLst/>
          </a:prstGeom>
          <a:solidFill>
            <a:srgbClr val="E8EFF7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188720"/>
            <a:ext cx="1060704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15304C"/>
                </a:solidFill>
                <a:latin typeface="Calibri"/>
              </a:rPr>
              <a:t>Prioritize implementing the high-accuracy model for solar energy and a simplified scheduler for outdoor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2011680"/>
            <a:ext cx="3154680" cy="33375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2011680"/>
            <a:ext cx="3154680" cy="109728"/>
          </a:xfrm>
          <a:prstGeom prst="rect">
            <a:avLst/>
          </a:prstGeom>
          <a:solidFill>
            <a:srgbClr val="2C6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269748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2C65A4"/>
                </a:solidFill>
                <a:latin typeface="Calibri"/>
              </a:rPr>
              <a:t>Priority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697480" cy="56692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1" i="0">
                <a:solidFill>
                  <a:srgbClr val="15304C"/>
                </a:solidFill>
                <a:latin typeface="Calibri"/>
              </a:rPr>
              <a:t>Action: Deploy the regression model for day-ahead solar radiation forecasting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93008"/>
            <a:ext cx="2697480" cy="11155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900" b="0" i="0">
                <a:solidFill>
                  <a:srgbClr val="1F2730"/>
                </a:solidFill>
                <a:latin typeface="Calibri"/>
              </a:rPr>
              <a:t>Track pilot outcome, adoption, guardrails, and stop/go criteria before scaling.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269748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1" i="0">
                <a:solidFill>
                  <a:srgbClr val="5E6974"/>
                </a:solidFill>
                <a:latin typeface="Calibri"/>
              </a:rPr>
              <a:t>Validation required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2011680"/>
            <a:ext cx="3154680" cy="33375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2011680"/>
            <a:ext cx="3154680" cy="109728"/>
          </a:xfrm>
          <a:prstGeom prst="rect">
            <a:avLst/>
          </a:prstGeom>
          <a:solidFill>
            <a:srgbClr val="35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331720"/>
            <a:ext cx="269748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2C65A4"/>
                </a:solidFill>
                <a:latin typeface="Calibri"/>
              </a:rPr>
              <a:t>Priority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43200"/>
            <a:ext cx="2697480" cy="56692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1" i="0">
                <a:solidFill>
                  <a:srgbClr val="15304C"/>
                </a:solidFill>
                <a:latin typeface="Calibri"/>
              </a:rPr>
              <a:t>Action: Develop a simplified, rule-based scheduling tool for outdoor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93008"/>
            <a:ext cx="2697480" cy="11155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900" b="0" i="0">
                <a:solidFill>
                  <a:srgbClr val="1F2730"/>
                </a:solidFill>
                <a:latin typeface="Calibri"/>
              </a:rPr>
              <a:t>Track pilot outcome, adoption, guardrails, and stop/go criteria before scaling.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92040"/>
            <a:ext cx="269748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1" i="0">
                <a:solidFill>
                  <a:srgbClr val="5E6974"/>
                </a:solidFill>
                <a:latin typeface="Calibri"/>
              </a:rPr>
              <a:t>Validation required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2011680"/>
            <a:ext cx="3154680" cy="33375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36992" y="2011680"/>
            <a:ext cx="3154680" cy="109728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331720"/>
            <a:ext cx="269748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2C65A4"/>
                </a:solidFill>
                <a:latin typeface="Calibri"/>
              </a:rPr>
              <a:t>Priority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743200"/>
            <a:ext cx="2697480" cy="56692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1" i="0">
                <a:solidFill>
                  <a:srgbClr val="15304C"/>
                </a:solidFill>
                <a:latin typeface="Calibri"/>
              </a:rPr>
              <a:t>Action: Initiate a data collection and model replication project for two adjacent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493008"/>
            <a:ext cx="2697480" cy="11155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900" b="0" i="0">
                <a:solidFill>
                  <a:srgbClr val="1F2730"/>
                </a:solidFill>
                <a:latin typeface="Calibri"/>
              </a:rPr>
              <a:t>Owner: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892040"/>
            <a:ext cx="269748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1" i="0">
                <a:solidFill>
                  <a:srgbClr val="5E6974"/>
                </a:solidFill>
                <a:latin typeface="Calibri"/>
              </a:rPr>
              <a:t>Validation required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291072"/>
            <a:ext cx="10881360" cy="10972"/>
          </a:xfrm>
          <a:prstGeom prst="rect">
            <a:avLst/>
          </a:prstGeom>
          <a:solidFill>
            <a:srgbClr val="D1D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28232"/>
            <a:ext cx="731520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 i="0">
                <a:solidFill>
                  <a:srgbClr val="5E6974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6428232"/>
            <a:ext cx="173736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 i="0">
                <a:solidFill>
                  <a:srgbClr val="5E6974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92608"/>
            <a:ext cx="1074420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000" b="1" i="0">
                <a:solidFill>
                  <a:srgbClr val="15304C"/>
                </a:solidFill>
                <a:latin typeface="Calibri"/>
              </a:rPr>
              <a:t>Limitations: Geographic Specificity and Clear-Sky Focus Require Managed Expansion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914400" cy="32004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207008"/>
            <a:ext cx="10863072" cy="530352"/>
          </a:xfrm>
          <a:prstGeom prst="roundRect">
            <a:avLst/>
          </a:prstGeom>
          <a:solidFill>
            <a:srgbClr val="E8EFF7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280160"/>
            <a:ext cx="10607040" cy="420623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100" b="1" i="0">
                <a:solidFill>
                  <a:srgbClr val="15304C"/>
                </a:solidFill>
                <a:latin typeface="Calibri"/>
              </a:rPr>
              <a:t>The model's high performance is tied to a single location and predicts ideal conditions, not actual weather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21408"/>
            <a:ext cx="4828032" cy="111556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128016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900" b="1" i="0">
                <a:solidFill>
                  <a:srgbClr val="A8534C"/>
                </a:solidFill>
                <a:latin typeface="Calibri"/>
              </a:rPr>
              <a:t>Limitation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96896"/>
            <a:ext cx="4389120" cy="42062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000" b="0" i="0">
                <a:solidFill>
                  <a:srgbClr val="1F2730"/>
                </a:solidFill>
                <a:latin typeface="Calibri"/>
              </a:rPr>
              <a:t>Exploratory screening only: validate precision, recall, F1, and support before operational 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21408"/>
            <a:ext cx="4828032" cy="111556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276856"/>
            <a:ext cx="128016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900" b="1" i="0">
                <a:solidFill>
                  <a:srgbClr val="A8534C"/>
                </a:solidFill>
                <a:latin typeface="Calibri"/>
              </a:rPr>
              <a:t>Limitation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596896"/>
            <a:ext cx="4389120" cy="42062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000" b="0" i="0">
                <a:solidFill>
                  <a:srgbClr val="1F2730"/>
                </a:solidFill>
                <a:latin typeface="Calibri"/>
              </a:rPr>
              <a:t>The model is geographically specific to a single point (021d49N, 039d18E)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94176"/>
            <a:ext cx="4828032" cy="111556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49624"/>
            <a:ext cx="128016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900" b="1" i="0">
                <a:solidFill>
                  <a:srgbClr val="A8534C"/>
                </a:solidFill>
                <a:latin typeface="Calibri"/>
              </a:rPr>
              <a:t>Limitation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69664"/>
            <a:ext cx="4389120" cy="42062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000" b="0" i="0">
                <a:solidFill>
                  <a:srgbClr val="1F2730"/>
                </a:solidFill>
                <a:latin typeface="Calibri"/>
              </a:rPr>
              <a:t>The model predicts clear-sky radiation (CLRSKY_SFC_SW_DWN), not actual radiation under cloudy conditions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694176"/>
            <a:ext cx="4828032" cy="111556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1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849624"/>
            <a:ext cx="128016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900" b="1" i="0">
                <a:solidFill>
                  <a:srgbClr val="A8534C"/>
                </a:solidFill>
                <a:latin typeface="Calibri"/>
              </a:rPr>
              <a:t>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9664"/>
            <a:ext cx="4389120" cy="42062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000" b="0" i="0">
                <a:solidFill>
                  <a:srgbClr val="1F2730"/>
                </a:solidFill>
                <a:latin typeface="Calibri"/>
              </a:rPr>
              <a:t>The dataset ends in December 2023. Future climate trends or anomalies may alter underlying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10881360" cy="10972"/>
          </a:xfrm>
          <a:prstGeom prst="rect">
            <a:avLst/>
          </a:prstGeom>
          <a:solidFill>
            <a:srgbClr val="D1D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28232"/>
            <a:ext cx="731520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 i="0">
                <a:solidFill>
                  <a:srgbClr val="5E6974"/>
                </a:solidFill>
                <a:latin typeface="Calibri"/>
              </a:rPr>
              <a:t>Optimizing Operations with High-Fidelity Weather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428232"/>
            <a:ext cx="173736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 i="0">
                <a:solidFill>
                  <a:srgbClr val="5E6974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0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" cy="6858000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1133856"/>
            <a:ext cx="10149840" cy="8229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Calibri"/>
              </a:rPr>
              <a:t>Summary: Actionable Weather Intelligence from a Robust, Interpretable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" y="2121408"/>
            <a:ext cx="9966960" cy="36576"/>
          </a:xfrm>
          <a:prstGeom prst="rect">
            <a:avLst/>
          </a:prstGeom>
          <a:solidFill>
            <a:srgbClr val="BB9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487168"/>
            <a:ext cx="9509760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  <a:latin typeface="Calibri"/>
              </a:rPr>
              <a:t>Implement the high-accuracy solar radiation forecast and rule-based scheduler to reduce uncertainty in energy and outdoor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896112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BB9241"/>
                </a:solidFill>
                <a:latin typeface="Calibri"/>
              </a:rPr>
              <a:t>- </a:t>
            </a:r>
            <a:r>
              <a:rPr sz="1200">
                <a:solidFill>
                  <a:srgbClr val="FFFFFF"/>
                </a:solidFill>
                <a:latin typeface="Calibri"/>
              </a:rPr>
              <a:t>Temperature shows clear warming trend and seasonal cycles over 17-year period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BB9241"/>
                </a:solidFill>
                <a:latin typeface="Calibri"/>
              </a:rPr>
              <a:t>- </a:t>
            </a:r>
            <a:r>
              <a:rPr sz="1200">
                <a:solidFill>
                  <a:srgbClr val="FFFFFF"/>
                </a:solidFill>
                <a:latin typeface="Calibri"/>
              </a:rPr>
              <a:t>Immediately deploy the high-accuracy solar radiation forecasting model for solar energy operations in the original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BB9241"/>
                </a:solidFill>
                <a:latin typeface="Calibri"/>
              </a:rPr>
              <a:t>- </a:t>
            </a:r>
            <a:r>
              <a:rPr sz="1200">
                <a:solidFill>
                  <a:srgbClr val="FFFFFF"/>
                </a:solidFill>
                <a:latin typeface="Calibri"/>
              </a:rPr>
              <a:t>The weather data analysis has delivered a robust, interpretable predictive model that directly addresses the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6236208"/>
            <a:ext cx="621792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900" b="0" i="0">
                <a:solidFill>
                  <a:srgbClr val="E8EFF7"/>
                </a:solidFill>
                <a:latin typeface="Calibri"/>
              </a:rPr>
              <a:t>Generated by the Multi-Agent Analytics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0" y="6236208"/>
            <a:ext cx="1645920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900" b="0" i="0">
                <a:solidFill>
                  <a:srgbClr val="E8EFF7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