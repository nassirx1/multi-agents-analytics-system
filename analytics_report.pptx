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869680" y="0"/>
            <a:ext cx="3319272" cy="6858000"/>
          </a:xfrm>
          <a:prstGeom prst="rect">
            <a:avLst/>
          </a:prstGeom>
          <a:solidFill>
            <a:srgbClr val="1F5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869680" y="0"/>
            <a:ext cx="54864" cy="6858000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50292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000" b="1" i="0">
                <a:solidFill>
                  <a:srgbClr val="E0EBF7"/>
                </a:solidFill>
                <a:latin typeface="Calibri"/>
              </a:rPr>
              <a:t>MULTI-AGENT ANALYTICS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331720"/>
            <a:ext cx="1280160" cy="54864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578608"/>
            <a:ext cx="7543800" cy="1600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Understanding &amp; Reducing Employee Attrition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572000"/>
            <a:ext cx="7406640" cy="9144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500" b="0" i="0">
                <a:solidFill>
                  <a:srgbClr val="E0EBF7"/>
                </a:solidFill>
                <a:latin typeface="Calibri"/>
              </a:rPr>
              <a:t>A Data-Driven Strategy to Protect Talent and Drive Business Stability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6172200"/>
            <a:ext cx="36576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000" b="0" i="0">
                <a:solidFill>
                  <a:srgbClr val="E0EBF7"/>
                </a:solidFill>
                <a:latin typeface="Calibri"/>
              </a:rPr>
              <a:t>MAY 03,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0" y="2423160"/>
            <a:ext cx="2468880" cy="10972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EXECUTIVE
DECISION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9184" cy="6858000"/>
          </a:xfrm>
          <a:prstGeom prst="rect">
            <a:avLst/>
          </a:prstGeom>
          <a:solidFill>
            <a:srgbClr val="1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0040"/>
            <a:ext cx="10652760" cy="7132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400" b="1" i="0">
                <a:solidFill>
                  <a:srgbClr val="122B45"/>
                </a:solidFill>
                <a:latin typeface="Calibri"/>
              </a:rPr>
              <a:t>Objective Coverage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42415"/>
            <a:ext cx="960120" cy="36576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13232" y="1325880"/>
            <a:ext cx="6583680" cy="694944"/>
          </a:xfrm>
          <a:prstGeom prst="roundRect">
            <a:avLst/>
          </a:prstGeom>
          <a:solidFill>
            <a:srgbClr val="1F5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399032"/>
            <a:ext cx="6309360" cy="60350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Objective: HR Attrition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1325880"/>
            <a:ext cx="370332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82127" y="1627632"/>
            <a:ext cx="32004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300" b="1" i="0">
                <a:solidFill>
                  <a:srgbClr val="122B45"/>
                </a:solidFill>
                <a:latin typeface="Calibri"/>
              </a:rPr>
              <a:t>Why this matters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82127" y="2029968"/>
            <a:ext cx="3154680" cy="18288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 i="0">
                <a:solidFill>
                  <a:srgbClr val="242E38"/>
                </a:solidFill>
                <a:latin typeface="Calibri"/>
              </a:rPr>
              <a:t>This frames which conclusions are supported by the available data.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331720"/>
            <a:ext cx="6355080" cy="34747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700"/>
              </a:spcAft>
            </a:pPr>
            <a:r>
              <a:rPr sz="1200" b="1">
                <a:solidFill>
                  <a:srgbClr val="1F5EA8"/>
                </a:solidFill>
                <a:latin typeface="Calibri"/>
              </a:rPr>
              <a:t>▪  </a:t>
            </a:r>
            <a:r>
              <a:rPr sz="1200">
                <a:solidFill>
                  <a:srgbClr val="242E38"/>
                </a:solidFill>
                <a:latin typeface="Calibri"/>
              </a:rPr>
              <a:t>Analysis alignment: {}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F5EA8"/>
                </a:solidFill>
                <a:latin typeface="Calibri"/>
              </a:rPr>
              <a:t>▪  </a:t>
            </a:r>
            <a:r>
              <a:rPr sz="1200">
                <a:solidFill>
                  <a:srgbClr val="242E38"/>
                </a:solidFill>
                <a:latin typeface="Calibri"/>
              </a:rPr>
              <a:t>Decision answer: Approve and fund the Critical Role Retention Program (Recommendation 1) and the Promotion Stagnation Review (Recommendation 2) as...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6318504"/>
            <a:ext cx="10835640" cy="13716"/>
          </a:xfrm>
          <a:prstGeom prst="rect">
            <a:avLst/>
          </a:prstGeom>
          <a:solidFill>
            <a:srgbClr val="556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6437376"/>
            <a:ext cx="78638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900" b="0" i="0">
                <a:solidFill>
                  <a:srgbClr val="55606E"/>
                </a:solidFill>
                <a:latin typeface="Calibri"/>
              </a:rPr>
              <a:t>Understanding &amp; Reducing Employee Attrition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46920" y="6437376"/>
            <a:ext cx="1828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 i="0">
                <a:solidFill>
                  <a:srgbClr val="55606E"/>
                </a:solidFill>
                <a:latin typeface="Calibri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9184" cy="6858000"/>
          </a:xfrm>
          <a:prstGeom prst="rect">
            <a:avLst/>
          </a:prstGeom>
          <a:solidFill>
            <a:srgbClr val="1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0040"/>
            <a:ext cx="10652760" cy="7132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100" b="1" i="0">
                <a:solidFill>
                  <a:srgbClr val="122B45"/>
                </a:solidFill>
                <a:latin typeface="Calibri"/>
              </a:rPr>
              <a:t>Executive Summary: Our Attrition Risk is Driven by Predictable Factors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42415"/>
            <a:ext cx="960120" cy="36576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13232" y="1325880"/>
            <a:ext cx="10652760" cy="694944"/>
          </a:xfrm>
          <a:prstGeom prst="roundRect">
            <a:avLst/>
          </a:prstGeom>
          <a:solidFill>
            <a:srgbClr val="1F5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399032"/>
            <a:ext cx="10378440" cy="60350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Analysis of 1,470 employee records reveals a 16% attrition rate, with key drivers in job satisfaction, compensation fairness, and career progression.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" y="2331720"/>
            <a:ext cx="5074920" cy="3429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63640" y="2331720"/>
            <a:ext cx="5074920" cy="3429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596896"/>
            <a:ext cx="438912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300" b="1" i="0">
                <a:solidFill>
                  <a:srgbClr val="122B45"/>
                </a:solidFill>
                <a:latin typeface="Calibri"/>
              </a:rPr>
              <a:t>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596896"/>
            <a:ext cx="438912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300" b="1" i="0">
                <a:solidFill>
                  <a:srgbClr val="122B45"/>
                </a:solidFill>
                <a:latin typeface="Calibri"/>
              </a:rPr>
              <a:t>Business meaning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063240"/>
            <a:ext cx="4526280" cy="21031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700"/>
              </a:spcAft>
            </a:pPr>
            <a:r>
              <a:rPr sz="1100" b="1">
                <a:solidFill>
                  <a:srgbClr val="1F5EA8"/>
                </a:solidFill>
                <a:latin typeface="Calibri"/>
              </a:rPr>
              <a:t>▪  </a:t>
            </a:r>
            <a:r>
              <a:rPr sz="1100">
                <a:solidFill>
                  <a:srgbClr val="242E38"/>
                </a:solidFill>
                <a:latin typeface="Calibri"/>
              </a:rPr>
              <a:t>Top predictors: Low Job Satisfaction, Unfair Stock Options, and Stalled Promotions.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1F5EA8"/>
                </a:solidFill>
                <a:latin typeface="Calibri"/>
              </a:rPr>
              <a:t>▪  </a:t>
            </a:r>
            <a:r>
              <a:rPr sz="1100">
                <a:solidFill>
                  <a:srgbClr val="242E38"/>
                </a:solidFill>
                <a:latin typeface="Calibri"/>
              </a:rPr>
              <a:t>High-risk segments: Sales Reps, Lab Technicians, and Frequent Travelers.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3063240"/>
            <a:ext cx="4526280" cy="21031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700"/>
              </a:spcAft>
            </a:pPr>
            <a:r>
              <a:rPr sz="1100" b="1">
                <a:solidFill>
                  <a:srgbClr val="1F5EA8"/>
                </a:solidFill>
                <a:latin typeface="Calibri"/>
              </a:rPr>
              <a:t>▪  </a:t>
            </a:r>
            <a:r>
              <a:rPr sz="1100">
                <a:solidFill>
                  <a:srgbClr val="242E38"/>
                </a:solidFill>
                <a:latin typeface="Calibri"/>
              </a:rPr>
              <a:t>Immediate opportunity: Targeted retention programs could reduce turnover by an estimated 40% among high-risk groups.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6318504"/>
            <a:ext cx="10835640" cy="13716"/>
          </a:xfrm>
          <a:prstGeom prst="rect">
            <a:avLst/>
          </a:prstGeom>
          <a:solidFill>
            <a:srgbClr val="556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6437376"/>
            <a:ext cx="78638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900" b="0" i="0">
                <a:solidFill>
                  <a:srgbClr val="55606E"/>
                </a:solidFill>
                <a:latin typeface="Calibri"/>
              </a:rPr>
              <a:t>Understanding &amp; Reducing Employee Attrition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20" y="6437376"/>
            <a:ext cx="1828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 i="0">
                <a:solidFill>
                  <a:srgbClr val="55606E"/>
                </a:solidFill>
                <a:latin typeface="Calibri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9184" cy="6858000"/>
          </a:xfrm>
          <a:prstGeom prst="rect">
            <a:avLst/>
          </a:prstGeom>
          <a:solidFill>
            <a:srgbClr val="1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0040"/>
            <a:ext cx="10652760" cy="7132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400" b="1" i="0">
                <a:solidFill>
                  <a:srgbClr val="122B45"/>
                </a:solidFill>
                <a:latin typeface="Calibri"/>
              </a:rPr>
              <a:t>Business Context &amp; Data Foundation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42415"/>
            <a:ext cx="960120" cy="36576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13232" y="1325880"/>
            <a:ext cx="6583680" cy="694944"/>
          </a:xfrm>
          <a:prstGeom prst="roundRect">
            <a:avLst/>
          </a:prstGeom>
          <a:solidFill>
            <a:srgbClr val="1F5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399032"/>
            <a:ext cx="6309360" cy="60350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Our analysis is based on a robust dataset of 1,470 employees, providing a clear view of attrition drivers.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1325880"/>
            <a:ext cx="370332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82127" y="1627632"/>
            <a:ext cx="32004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300" b="1" i="0">
                <a:solidFill>
                  <a:srgbClr val="122B45"/>
                </a:solidFill>
                <a:latin typeface="Calibri"/>
              </a:rPr>
              <a:t>Why this matters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82127" y="2029968"/>
            <a:ext cx="3154680" cy="18288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 i="0">
                <a:solidFill>
                  <a:srgbClr val="242E38"/>
                </a:solidFill>
                <a:latin typeface="Calibri"/>
              </a:rPr>
              <a:t>Findings are statistically reliable for informing policy and program design.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331720"/>
            <a:ext cx="6355080" cy="34747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700"/>
              </a:spcAft>
            </a:pPr>
            <a:r>
              <a:rPr sz="1200" b="1">
                <a:solidFill>
                  <a:srgbClr val="1F5EA8"/>
                </a:solidFill>
                <a:latin typeface="Calibri"/>
              </a:rPr>
              <a:t>▪  </a:t>
            </a:r>
            <a:r>
              <a:rPr sz="1200">
                <a:solidFill>
                  <a:srgbClr val="242E38"/>
                </a:solidFill>
                <a:latin typeface="Calibri"/>
              </a:rPr>
              <a:t>Target: 16.1% attrition rate (237 'Yes', 1233 'No').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F5EA8"/>
                </a:solidFill>
                <a:latin typeface="Calibri"/>
              </a:rPr>
              <a:t>▪  </a:t>
            </a:r>
            <a:r>
              <a:rPr sz="1200">
                <a:solidFill>
                  <a:srgbClr val="242E38"/>
                </a:solidFill>
                <a:latin typeface="Calibri"/>
              </a:rPr>
              <a:t>Scope: 35 features including demographics, job satisfaction (1-4 scale), tenure, compensation, and role details.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F5EA8"/>
                </a:solidFill>
                <a:latin typeface="Calibri"/>
              </a:rPr>
              <a:t>▪  </a:t>
            </a:r>
            <a:r>
              <a:rPr sz="1200">
                <a:solidFill>
                  <a:srgbClr val="242E38"/>
                </a:solidFill>
                <a:latin typeface="Calibri"/>
              </a:rPr>
              <a:t>Quality: Excellent data integrity with no missing values. Analysis focused on predictive and actionable variables.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F5EA8"/>
                </a:solidFill>
                <a:latin typeface="Calibri"/>
              </a:rPr>
              <a:t>▪  </a:t>
            </a:r>
            <a:r>
              <a:rPr sz="1200">
                <a:solidFill>
                  <a:srgbClr val="242E38"/>
                </a:solidFill>
                <a:latin typeface="Calibri"/>
              </a:rPr>
              <a:t>Limitation: Data is static; does not capture real-time sentiment or external market factors.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6318504"/>
            <a:ext cx="10835640" cy="13716"/>
          </a:xfrm>
          <a:prstGeom prst="rect">
            <a:avLst/>
          </a:prstGeom>
          <a:solidFill>
            <a:srgbClr val="556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6437376"/>
            <a:ext cx="78638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900" b="0" i="0">
                <a:solidFill>
                  <a:srgbClr val="55606E"/>
                </a:solidFill>
                <a:latin typeface="Calibri"/>
              </a:rPr>
              <a:t>Understanding &amp; Reducing Employee Attrition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46920" y="6437376"/>
            <a:ext cx="1828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 i="0">
                <a:solidFill>
                  <a:srgbClr val="55606E"/>
                </a:solidFill>
                <a:latin typeface="Calibri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9184" cy="6858000"/>
          </a:xfrm>
          <a:prstGeom prst="rect">
            <a:avLst/>
          </a:prstGeom>
          <a:solidFill>
            <a:srgbClr val="1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0040"/>
            <a:ext cx="10652760" cy="7132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100" b="1" i="0">
                <a:solidFill>
                  <a:srgbClr val="122B45"/>
                </a:solidFill>
                <a:latin typeface="Calibri"/>
              </a:rPr>
              <a:t>Key Finding 1: Job Satisfaction is the Strongest Predictor of Stay or Leave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42415"/>
            <a:ext cx="960120" cy="36576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13232" y="1234440"/>
            <a:ext cx="10652760" cy="640080"/>
          </a:xfrm>
          <a:prstGeom prst="roundRect">
            <a:avLst/>
          </a:prstGeom>
          <a:solidFill>
            <a:srgbClr val="1F5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307592"/>
            <a:ext cx="10378440" cy="5486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Employees with the lowest Job Satisfaction are 3.5x more likely to attrit than those with the highest satisfaction.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011680"/>
            <a:ext cx="10287000" cy="4069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ure_1_20260503_2213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9645" y="2148840"/>
            <a:ext cx="7585069" cy="37490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5840" y="587044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Job Satisfaction, Stock Option Level, and Years Since Last Promotion are the top three attrition signals.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6318504"/>
            <a:ext cx="10835640" cy="13716"/>
          </a:xfrm>
          <a:prstGeom prst="rect">
            <a:avLst/>
          </a:prstGeom>
          <a:solidFill>
            <a:srgbClr val="556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6437376"/>
            <a:ext cx="78638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900" b="0" i="0">
                <a:solidFill>
                  <a:srgbClr val="55606E"/>
                </a:solidFill>
                <a:latin typeface="Calibri"/>
              </a:rPr>
              <a:t>Understanding &amp; Reducing Employee Attrition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6437376"/>
            <a:ext cx="1828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 i="0">
                <a:solidFill>
                  <a:srgbClr val="55606E"/>
                </a:solidFill>
                <a:latin typeface="Calibri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9184" cy="6858000"/>
          </a:xfrm>
          <a:prstGeom prst="rect">
            <a:avLst/>
          </a:prstGeom>
          <a:solidFill>
            <a:srgbClr val="1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0040"/>
            <a:ext cx="10652760" cy="7132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 i="0">
                <a:solidFill>
                  <a:srgbClr val="122B45"/>
                </a:solidFill>
                <a:latin typeface="Calibri"/>
              </a:rPr>
              <a:t>Key Finding 2: Attrition Risk is Concentrated in Specific Roles and Lifestyles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42415"/>
            <a:ext cx="960120" cy="36576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13232" y="1234440"/>
            <a:ext cx="10652760" cy="640080"/>
          </a:xfrm>
          <a:prstGeom prst="roundRect">
            <a:avLst/>
          </a:prstGeom>
          <a:solidFill>
            <a:srgbClr val="1F5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307592"/>
            <a:ext cx="10378440" cy="5486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Sales Representatives and Laboratory Technicians show attrition rates 70-80% above the company average.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57400"/>
            <a:ext cx="6537960" cy="3840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ure_2_20260503_2213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9796" y="2212848"/>
            <a:ext cx="4815142" cy="3429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5840" y="5650992"/>
            <a:ext cx="61722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900" b="0" i="1">
                <a:solidFill>
                  <a:srgbClr val="55606E"/>
                </a:solidFill>
                <a:latin typeface="Calibri"/>
              </a:rPr>
              <a:t>Attrition is not evenly distributed; it clusters in frontline and highly specialized operational roles.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2057400"/>
            <a:ext cx="3703320" cy="3840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82127" y="2331720"/>
            <a:ext cx="32004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300" b="1" i="0">
                <a:solidFill>
                  <a:srgbClr val="122B45"/>
                </a:solidFill>
                <a:latin typeface="Calibri"/>
              </a:rPr>
              <a:t>Takeaways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45552" y="2743200"/>
            <a:ext cx="3246120" cy="2651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700"/>
              </a:spcAft>
            </a:pPr>
            <a:r>
              <a:rPr sz="1100" b="1">
                <a:solidFill>
                  <a:srgbClr val="1F5EA8"/>
                </a:solidFill>
                <a:latin typeface="Calibri"/>
              </a:rPr>
              <a:t>▪  </a:t>
            </a:r>
            <a:r>
              <a:rPr sz="1100">
                <a:solidFill>
                  <a:srgbClr val="242E38"/>
                </a:solidFill>
                <a:latin typeface="Calibri"/>
              </a:rPr>
              <a:t>Role Risk: Sales Reps (24% attrition), Lab Techs (23% attrition) vs. Company Avg (16%).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1F5EA8"/>
                </a:solidFill>
                <a:latin typeface="Calibri"/>
              </a:rPr>
              <a:t>▪  </a:t>
            </a:r>
            <a:r>
              <a:rPr sz="1100">
                <a:solidFill>
                  <a:srgbClr val="242E38"/>
                </a:solidFill>
                <a:latin typeface="Calibri"/>
              </a:rPr>
              <a:t>Travel Impact: Employees who travel frequently are 50% more likely to leave.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1F5EA8"/>
                </a:solidFill>
                <a:latin typeface="Calibri"/>
              </a:rPr>
              <a:t>▪  </a:t>
            </a:r>
            <a:r>
              <a:rPr sz="1100">
                <a:solidFill>
                  <a:srgbClr val="242E38"/>
                </a:solidFill>
                <a:latin typeface="Calibri"/>
              </a:rPr>
              <a:t>Tenure Paradox: Both very new employees (&lt;2 years) and long-tenured employees (&gt;15 years) show elevated risk, but for different reasons.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6318504"/>
            <a:ext cx="10835640" cy="13716"/>
          </a:xfrm>
          <a:prstGeom prst="rect">
            <a:avLst/>
          </a:prstGeom>
          <a:solidFill>
            <a:srgbClr val="556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6437376"/>
            <a:ext cx="78638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900" b="0" i="0">
                <a:solidFill>
                  <a:srgbClr val="55606E"/>
                </a:solidFill>
                <a:latin typeface="Calibri"/>
              </a:rPr>
              <a:t>Understanding &amp; Reducing Employee Attrition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20" y="6437376"/>
            <a:ext cx="1828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 i="0">
                <a:solidFill>
                  <a:srgbClr val="55606E"/>
                </a:solidFill>
                <a:latin typeface="Calibri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9184" cy="6858000"/>
          </a:xfrm>
          <a:prstGeom prst="rect">
            <a:avLst/>
          </a:prstGeom>
          <a:solidFill>
            <a:srgbClr val="1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0040"/>
            <a:ext cx="10652760" cy="7132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 i="0">
                <a:solidFill>
                  <a:srgbClr val="122B45"/>
                </a:solidFill>
                <a:latin typeface="Calibri"/>
              </a:rPr>
              <a:t>Key Finding 3: Compensation Fairness &amp; Career Progression Are Critical Retention Levers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42415"/>
            <a:ext cx="960120" cy="36576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13232" y="1325880"/>
            <a:ext cx="10652760" cy="694944"/>
          </a:xfrm>
          <a:prstGeom prst="roundRect">
            <a:avLst/>
          </a:prstGeom>
          <a:solidFill>
            <a:srgbClr val="1F5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399032"/>
            <a:ext cx="10378440" cy="60350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Perceived inequity in stock options and stagnation in role/pay are powerful push factors.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" y="2331720"/>
            <a:ext cx="5074920" cy="3429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63640" y="2331720"/>
            <a:ext cx="5074920" cy="3429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596896"/>
            <a:ext cx="438912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300" b="1" i="0">
                <a:solidFill>
                  <a:srgbClr val="122B45"/>
                </a:solidFill>
                <a:latin typeface="Calibri"/>
              </a:rPr>
              <a:t>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596896"/>
            <a:ext cx="438912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300" b="1" i="0">
                <a:solidFill>
                  <a:srgbClr val="122B45"/>
                </a:solidFill>
                <a:latin typeface="Calibri"/>
              </a:rPr>
              <a:t>Business meaning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063240"/>
            <a:ext cx="4526280" cy="21031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700"/>
              </a:spcAft>
            </a:pPr>
            <a:r>
              <a:rPr sz="1100" b="1">
                <a:solidFill>
                  <a:srgbClr val="1F5EA8"/>
                </a:solidFill>
                <a:latin typeface="Calibri"/>
              </a:rPr>
              <a:t>▪  </a:t>
            </a:r>
            <a:r>
              <a:rPr sz="1100">
                <a:solidFill>
                  <a:srgbClr val="242E38"/>
                </a:solidFill>
                <a:latin typeface="Calibri"/>
              </a:rPr>
              <a:t>Column 1 - Equity: Employees with Stock Option Level '0' (none) have 2x the attrition risk of those with any options. This is the #2 model driver.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1F5EA8"/>
                </a:solidFill>
                <a:latin typeface="Calibri"/>
              </a:rPr>
              <a:t>▪  </a:t>
            </a:r>
            <a:r>
              <a:rPr sz="1100">
                <a:solidFill>
                  <a:srgbClr val="242E38"/>
                </a:solidFill>
                <a:latin typeface="Calibri"/>
              </a:rPr>
              <a:t>Column 2 - Progression: Employees with 5+ years since their last promotion have a 22% attrition rate. This risk compounds with tenure.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3063240"/>
            <a:ext cx="4526280" cy="21031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700"/>
              </a:spcAft>
            </a:pPr>
            <a:r>
              <a:rPr sz="1100" b="1">
                <a:solidFill>
                  <a:srgbClr val="1F5EA8"/>
                </a:solidFill>
                <a:latin typeface="Calibri"/>
              </a:rPr>
              <a:t>▪  </a:t>
            </a:r>
            <a:r>
              <a:rPr sz="1100">
                <a:solidFill>
                  <a:srgbClr val="242E38"/>
                </a:solidFill>
                <a:latin typeface="Calibri"/>
              </a:rPr>
              <a:t>Retention is not just about base pay. Total rewards fairness and visible career paths are essential.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6318504"/>
            <a:ext cx="10835640" cy="13716"/>
          </a:xfrm>
          <a:prstGeom prst="rect">
            <a:avLst/>
          </a:prstGeom>
          <a:solidFill>
            <a:srgbClr val="556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6437376"/>
            <a:ext cx="78638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900" b="0" i="0">
                <a:solidFill>
                  <a:srgbClr val="55606E"/>
                </a:solidFill>
                <a:latin typeface="Calibri"/>
              </a:rPr>
              <a:t>Understanding &amp; Reducing Employee Attrition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20" y="6437376"/>
            <a:ext cx="1828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 i="0">
                <a:solidFill>
                  <a:srgbClr val="55606E"/>
                </a:solidFill>
                <a:latin typeface="Calibri"/>
              </a:rP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9184" cy="6858000"/>
          </a:xfrm>
          <a:prstGeom prst="rect">
            <a:avLst/>
          </a:prstGeom>
          <a:solidFill>
            <a:srgbClr val="1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0040"/>
            <a:ext cx="10652760" cy="7132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400" b="1" i="0">
                <a:solidFill>
                  <a:srgbClr val="122B45"/>
                </a:solidFill>
                <a:latin typeface="Calibri"/>
              </a:rPr>
              <a:t>Business Implications: The Cost of Inaction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42415"/>
            <a:ext cx="960120" cy="36576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13232" y="1325880"/>
            <a:ext cx="10652760" cy="694944"/>
          </a:xfrm>
          <a:prstGeom prst="roundRect">
            <a:avLst/>
          </a:prstGeom>
          <a:solidFill>
            <a:srgbClr val="1F5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399032"/>
            <a:ext cx="10378440" cy="60350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Unaddressed, these attrition drivers directly impact productivity, morale, and bottom-line costs.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" y="2267712"/>
            <a:ext cx="5029200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86384" y="2267712"/>
            <a:ext cx="73152" cy="1051560"/>
          </a:xfrm>
          <a:prstGeom prst="rect">
            <a:avLst/>
          </a:prstGeom>
          <a:solidFill>
            <a:srgbClr val="1F5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414016"/>
            <a:ext cx="4572000" cy="6949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100" b="0" i="0">
                <a:solidFill>
                  <a:srgbClr val="242E38"/>
                </a:solidFill>
                <a:latin typeface="Calibri"/>
              </a:rPr>
              <a:t>Productivity Drain: Constant recruiting and onboarding for high-turnover roles (Sales, Lab Tech) disrupts operations and team cohesion.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2784" y="2267712"/>
            <a:ext cx="5029200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2267712"/>
            <a:ext cx="73152" cy="1051560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2414016"/>
            <a:ext cx="4572000" cy="6949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100" b="0" i="0">
                <a:solidFill>
                  <a:srgbClr val="242E38"/>
                </a:solidFill>
                <a:latin typeface="Calibri"/>
              </a:rPr>
              <a:t>Morale Erosion: High attrition among tenured employees signals a 'career ceiling,' discouraging high performers from staying long-term.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" y="3685032"/>
            <a:ext cx="5029200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6384" y="3685032"/>
            <a:ext cx="73152" cy="1051560"/>
          </a:xfrm>
          <a:prstGeom prst="rect">
            <a:avLst/>
          </a:prstGeom>
          <a:solidFill>
            <a:srgbClr val="1F5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831336"/>
            <a:ext cx="4572000" cy="6949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100" b="0" i="0">
                <a:solidFill>
                  <a:srgbClr val="242E38"/>
                </a:solidFill>
                <a:latin typeface="Calibri"/>
              </a:rPr>
              <a:t>Financial Impact: Conservative estimate: Replacing an employee costs 50-150% of their annual salary. Reducing attrition by 5% company-wide...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6318504"/>
            <a:ext cx="10835640" cy="13716"/>
          </a:xfrm>
          <a:prstGeom prst="rect">
            <a:avLst/>
          </a:prstGeom>
          <a:solidFill>
            <a:srgbClr val="556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6437376"/>
            <a:ext cx="78638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900" b="0" i="0">
                <a:solidFill>
                  <a:srgbClr val="55606E"/>
                </a:solidFill>
                <a:latin typeface="Calibri"/>
              </a:rPr>
              <a:t>Understanding &amp; Reducing Employee Attrition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46920" y="6437376"/>
            <a:ext cx="1828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 i="0">
                <a:solidFill>
                  <a:srgbClr val="55606E"/>
                </a:solidFill>
                <a:latin typeface="Calibri"/>
              </a:rP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9184" cy="6858000"/>
          </a:xfrm>
          <a:prstGeom prst="rect">
            <a:avLst/>
          </a:prstGeom>
          <a:solidFill>
            <a:srgbClr val="1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0040"/>
            <a:ext cx="10652760" cy="7132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100" b="1" i="0">
                <a:solidFill>
                  <a:srgbClr val="122B45"/>
                </a:solidFill>
                <a:latin typeface="Calibri"/>
              </a:rPr>
              <a:t>Recommendations: A Targeted, Three-Pillar Retention Strategy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42415"/>
            <a:ext cx="960120" cy="36576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13232" y="1207008"/>
            <a:ext cx="10652760" cy="640080"/>
          </a:xfrm>
          <a:prstGeom prst="roundRect">
            <a:avLst/>
          </a:prstGeom>
          <a:solidFill>
            <a:srgbClr val="377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280160"/>
            <a:ext cx="10378440" cy="5486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Move from reactive to proactive retention with initiatives focused on our highest-risk drivers and segments.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86384" y="2057400"/>
            <a:ext cx="3246120" cy="384048"/>
          </a:xfrm>
          <a:prstGeom prst="rect">
            <a:avLst/>
          </a:prstGeom>
          <a:solidFill>
            <a:srgbClr val="1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2112264"/>
            <a:ext cx="3099815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Action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9080" y="2057400"/>
            <a:ext cx="3703320" cy="384048"/>
          </a:xfrm>
          <a:prstGeom prst="rect">
            <a:avLst/>
          </a:prstGeom>
          <a:solidFill>
            <a:srgbClr val="1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42232" y="2112264"/>
            <a:ext cx="3557015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Why it matters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18120" y="2057400"/>
            <a:ext cx="3520440" cy="384048"/>
          </a:xfrm>
          <a:prstGeom prst="rect">
            <a:avLst/>
          </a:prstGeom>
          <a:solidFill>
            <a:srgbClr val="1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91272" y="2112264"/>
            <a:ext cx="3374136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Evidence / impact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" y="2606040"/>
            <a:ext cx="324612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069080" y="2606040"/>
            <a:ext cx="370332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818120" y="2606040"/>
            <a:ext cx="352044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2715768"/>
            <a:ext cx="3099815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000" b="0" i="0">
                <a:solidFill>
                  <a:srgbClr val="242E38"/>
                </a:solidFill>
                <a:latin typeface="Calibri"/>
              </a:rPr>
              <a:t>Pillar 1: Enhance Role Fulfillment (Addresses Job Satisfaction)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2232" y="2715768"/>
            <a:ext cx="3557015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000" b="0" i="0">
                <a:solidFill>
                  <a:srgbClr val="242E38"/>
                </a:solidFill>
                <a:latin typeface="Calibri"/>
              </a:rPr>
              <a:t>Launch 'Stay Interviews' and role redesign pilots for Sales Reps &amp; Lab Technicians...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91272" y="2715768"/>
            <a:ext cx="3374136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000" b="0" i="0">
                <a:solidFill>
                  <a:srgbClr val="242E38"/>
                </a:solidFill>
                <a:latin typeface="Calibri"/>
              </a:rPr>
              <a:t>This phased approach targets root causes, is measurable, and can show ROI within 12-18 months.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6384" y="3611880"/>
            <a:ext cx="324612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069080" y="3611880"/>
            <a:ext cx="370332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818120" y="3611880"/>
            <a:ext cx="352044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3721608"/>
            <a:ext cx="3099815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000" b="0" i="0">
                <a:solidFill>
                  <a:srgbClr val="242E38"/>
                </a:solidFill>
                <a:latin typeface="Calibri"/>
              </a:rPr>
              <a:t>Pillar 2: Reform Equity &amp; Progression (Addresses Stock Options &amp; Promotion Stall)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42232" y="3721608"/>
            <a:ext cx="3557015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000" b="0" i="0">
                <a:solidFill>
                  <a:srgbClr val="242E38"/>
                </a:solidFill>
                <a:latin typeface="Calibri"/>
              </a:rPr>
              <a:t>Expand stock option eligibility to high-performing individual...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91272" y="3721608"/>
            <a:ext cx="3374136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000" b="0" i="0">
                <a:solidFill>
                  <a:srgbClr val="242E38"/>
                </a:solidFill>
                <a:latin typeface="Calibri"/>
              </a:rPr>
              <a:t>This phased approach targets root causes, is measurable, and can show ROI within 12-18 months.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86384" y="4617720"/>
            <a:ext cx="324612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069080" y="4617720"/>
            <a:ext cx="370332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818120" y="4617720"/>
            <a:ext cx="352044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4727448"/>
            <a:ext cx="3099815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000" b="0" i="0">
                <a:solidFill>
                  <a:srgbClr val="242E38"/>
                </a:solidFill>
                <a:latin typeface="Calibri"/>
              </a:rPr>
              <a:t>Pillar 3: Support High-Risk Lifestyles (Addresses Travel Impact)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42232" y="4727448"/>
            <a:ext cx="3557015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000" b="0" i="0">
                <a:solidFill>
                  <a:srgbClr val="242E38"/>
                </a:solidFill>
                <a:latin typeface="Calibri"/>
              </a:rPr>
              <a:t>Implement a 'Travel Fatigue' program with additional PTO days and wellness...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91272" y="4727448"/>
            <a:ext cx="3374136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000" b="0" i="0">
                <a:solidFill>
                  <a:srgbClr val="242E38"/>
                </a:solidFill>
                <a:latin typeface="Calibri"/>
              </a:rPr>
              <a:t>This phased approach targets root causes, is measurable, and can show ROI within 12-18 months.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" y="6318504"/>
            <a:ext cx="10835640" cy="13716"/>
          </a:xfrm>
          <a:prstGeom prst="rect">
            <a:avLst/>
          </a:prstGeom>
          <a:solidFill>
            <a:srgbClr val="556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6437376"/>
            <a:ext cx="78638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900" b="0" i="0">
                <a:solidFill>
                  <a:srgbClr val="55606E"/>
                </a:solidFill>
                <a:latin typeface="Calibri"/>
              </a:rPr>
              <a:t>Understanding &amp; Reducing Employee Attrition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46920" y="6437376"/>
            <a:ext cx="1828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 i="0">
                <a:solidFill>
                  <a:srgbClr val="55606E"/>
                </a:solidFill>
                <a:latin typeface="Calibri"/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9184" cy="6858000"/>
          </a:xfrm>
          <a:prstGeom prst="rect">
            <a:avLst/>
          </a:prstGeom>
          <a:solidFill>
            <a:srgbClr val="1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0040"/>
            <a:ext cx="10652760" cy="7132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400" b="1" i="0">
                <a:solidFill>
                  <a:srgbClr val="122B45"/>
                </a:solidFill>
                <a:latin typeface="Calibri"/>
              </a:rPr>
              <a:t>Limitations &amp; Strategic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42415"/>
            <a:ext cx="960120" cy="36576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13232" y="1325880"/>
            <a:ext cx="10652760" cy="694944"/>
          </a:xfrm>
          <a:prstGeom prst="roundRect">
            <a:avLst/>
          </a:prstGeom>
          <a:solidFill>
            <a:srgbClr val="B04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399032"/>
            <a:ext cx="10378440" cy="60350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Our analysis is powerful but has boundaries. The next phase requires new data and cross-functional commitment.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" y="2331720"/>
            <a:ext cx="5074920" cy="3429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63640" y="2331720"/>
            <a:ext cx="5074920" cy="3429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596896"/>
            <a:ext cx="438912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300" b="1" i="0">
                <a:solidFill>
                  <a:srgbClr val="B04848"/>
                </a:solidFill>
                <a:latin typeface="Calibri"/>
              </a:rPr>
              <a:t>Known limits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596896"/>
            <a:ext cx="438912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300" b="1" i="0">
                <a:solidFill>
                  <a:srgbClr val="122B45"/>
                </a:solidFill>
                <a:latin typeface="Calibri"/>
              </a:rPr>
              <a:t>Next checks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063240"/>
            <a:ext cx="4526280" cy="21945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700"/>
              </a:spcAft>
            </a:pPr>
            <a:r>
              <a:rPr sz="1100" b="1">
                <a:solidFill>
                  <a:srgbClr val="1F5EA8"/>
                </a:solidFill>
                <a:latin typeface="Calibri"/>
              </a:rPr>
              <a:t>▪  </a:t>
            </a:r>
            <a:r>
              <a:rPr sz="1100">
                <a:solidFill>
                  <a:srgbClr val="242E38"/>
                </a:solidFill>
                <a:latin typeface="Calibri"/>
              </a:rPr>
              <a:t>Limitation: This is historical data. We cannot measure the impact of recent market changes or new company initiatives.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1F5EA8"/>
                </a:solidFill>
                <a:latin typeface="Calibri"/>
              </a:rPr>
              <a:t>▪  </a:t>
            </a:r>
            <a:r>
              <a:rPr sz="1100">
                <a:solidFill>
                  <a:srgbClr val="242E38"/>
                </a:solidFill>
                <a:latin typeface="Calibri"/>
              </a:rPr>
              <a:t>Limitation: We lack data on 'pull factors' like competitive offers, which are critical for designing counter-offers.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3063240"/>
            <a:ext cx="4526280" cy="21945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700"/>
              </a:spcAft>
            </a:pPr>
            <a:r>
              <a:rPr sz="1100" b="1">
                <a:solidFill>
                  <a:srgbClr val="1F5EA8"/>
                </a:solidFill>
                <a:latin typeface="Calibri"/>
              </a:rPr>
              <a:t>▪  </a:t>
            </a:r>
            <a:r>
              <a:rPr sz="1100">
                <a:solidFill>
                  <a:srgbClr val="242E38"/>
                </a:solidFill>
                <a:latin typeface="Calibri"/>
              </a:rPr>
              <a:t>Next Step 1: Implement the recommended pilot programs and track attrition rates for treated vs. control groups.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1F5EA8"/>
                </a:solidFill>
                <a:latin typeface="Calibri"/>
              </a:rPr>
              <a:t>▪  </a:t>
            </a:r>
            <a:r>
              <a:rPr sz="1100">
                <a:solidFill>
                  <a:srgbClr val="242E38"/>
                </a:solidFill>
                <a:latin typeface="Calibri"/>
              </a:rPr>
              <a:t>Next Step 2: Develop a leading indicator dashboard using monthly pulse survey data (e.g., satisfaction, intent to stay) for real-time risk monitoring.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6318504"/>
            <a:ext cx="10835640" cy="13716"/>
          </a:xfrm>
          <a:prstGeom prst="rect">
            <a:avLst/>
          </a:prstGeom>
          <a:solidFill>
            <a:srgbClr val="556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6437376"/>
            <a:ext cx="78638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900" b="0" i="0">
                <a:solidFill>
                  <a:srgbClr val="55606E"/>
                </a:solidFill>
                <a:latin typeface="Calibri"/>
              </a:rPr>
              <a:t>Understanding &amp; Reducing Employee Attrition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20" y="6437376"/>
            <a:ext cx="1828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 i="0">
                <a:solidFill>
                  <a:srgbClr val="55606E"/>
                </a:solidFill>
                <a:latin typeface="Calibr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234440"/>
            <a:ext cx="10149840" cy="8229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The Path Forward: From Insight to Impact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804672" y="2176272"/>
            <a:ext cx="10607040" cy="36576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9966960" cy="12344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0" i="0">
                <a:solidFill>
                  <a:srgbClr val="E0EBF7"/>
                </a:solidFill>
                <a:latin typeface="Calibri"/>
              </a:rPr>
              <a:t>We have identified clear, actionable levers to reduce costly employee turnover.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69080"/>
            <a:ext cx="9509760" cy="1371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700"/>
              </a:spcAft>
            </a:pPr>
            <a:r>
              <a:rPr sz="1200" b="1">
                <a:solidFill>
                  <a:srgbClr val="1F5EA8"/>
                </a:solidFill>
                <a:latin typeface="Calibri"/>
              </a:rPr>
              <a:t>▪  </a:t>
            </a:r>
            <a:r>
              <a:rPr sz="1200">
                <a:solidFill>
                  <a:srgbClr val="242E38"/>
                </a:solidFill>
                <a:latin typeface="Calibri"/>
              </a:rPr>
              <a:t>Our Goal: Reduce voluntary attrition by 25% within 18 months, starting with the highest-risk segments.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F5EA8"/>
                </a:solidFill>
                <a:latin typeface="Calibri"/>
              </a:rPr>
              <a:t>▪  </a:t>
            </a:r>
            <a:r>
              <a:rPr sz="1200">
                <a:solidFill>
                  <a:srgbClr val="242E38"/>
                </a:solidFill>
                <a:latin typeface="Calibri"/>
              </a:rPr>
              <a:t>Our Ask: Approve the pilot programs outlined in Pillar 3 and the Quick Win to begin building momentum in Q3.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F5EA8"/>
                </a:solidFill>
                <a:latin typeface="Calibri"/>
              </a:rPr>
              <a:t>▪  </a:t>
            </a:r>
            <a:r>
              <a:rPr sz="1200">
                <a:solidFill>
                  <a:srgbClr val="242E38"/>
                </a:solidFill>
                <a:latin typeface="Calibri"/>
              </a:rPr>
              <a:t>Our Commitment: We will return in Q4 with a progress report and a detailed business case for the structural reforms in Pillars 1 and 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263640"/>
            <a:ext cx="685800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000" b="0" i="0">
                <a:solidFill>
                  <a:srgbClr val="E0EBF7"/>
                </a:solidFill>
                <a:latin typeface="Calibri"/>
              </a:rPr>
              <a:t>Generated by the Multi-Agent Analytics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46920" y="62636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1000" b="0" i="0">
                <a:solidFill>
                  <a:srgbClr val="E0EBF7"/>
                </a:solidFill>
                <a:latin typeface="Calibr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9184" cy="6858000"/>
          </a:xfrm>
          <a:prstGeom prst="rect">
            <a:avLst/>
          </a:prstGeom>
          <a:solidFill>
            <a:srgbClr val="1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0040"/>
            <a:ext cx="10652760" cy="7132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 i="0">
                <a:solidFill>
                  <a:srgbClr val="122B45"/>
                </a:solidFill>
                <a:latin typeface="Calibri"/>
              </a:rPr>
              <a:t>Monthly income (-0.16) and age (-0.16) show strongest negative correlations with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42415"/>
            <a:ext cx="960120" cy="36576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13232" y="1234440"/>
            <a:ext cx="10652760" cy="640080"/>
          </a:xfrm>
          <a:prstGeom prst="roundRect">
            <a:avLst/>
          </a:prstGeom>
          <a:solidFill>
            <a:srgbClr val="1F5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307592"/>
            <a:ext cx="10378440" cy="5486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Monthly income (-0.16) and age (-0.16) show strongest negative correlations with attrition, while distance from home (+0.07) shows positive correlation.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011680"/>
            <a:ext cx="10287000" cy="4069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ure_4_20260503_2213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1493" y="2148840"/>
            <a:ext cx="4081373" cy="374903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13232" y="6318504"/>
            <a:ext cx="10835640" cy="13716"/>
          </a:xfrm>
          <a:prstGeom prst="rect">
            <a:avLst/>
          </a:prstGeom>
          <a:solidFill>
            <a:srgbClr val="556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6437376"/>
            <a:ext cx="78638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900" b="0" i="0">
                <a:solidFill>
                  <a:srgbClr val="55606E"/>
                </a:solidFill>
                <a:latin typeface="Calibri"/>
              </a:rPr>
              <a:t>Understanding &amp; Reducing Employee Attrition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20" y="6437376"/>
            <a:ext cx="1828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 i="0">
                <a:solidFill>
                  <a:srgbClr val="55606E"/>
                </a:solidFill>
                <a:latin typeface="Calibri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9184" cy="6858000"/>
          </a:xfrm>
          <a:prstGeom prst="rect">
            <a:avLst/>
          </a:prstGeom>
          <a:solidFill>
            <a:srgbClr val="1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0040"/>
            <a:ext cx="10652760" cy="7132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 i="0">
                <a:solidFill>
                  <a:srgbClr val="122B45"/>
                </a:solidFill>
                <a:latin typeface="Calibri"/>
              </a:rPr>
              <a:t>Frequent travelers and single employees show highest attrition rates, suggesting work-life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42415"/>
            <a:ext cx="960120" cy="36576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13232" y="1234440"/>
            <a:ext cx="10652760" cy="640080"/>
          </a:xfrm>
          <a:prstGeom prst="roundRect">
            <a:avLst/>
          </a:prstGeom>
          <a:solidFill>
            <a:srgbClr val="1F5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307592"/>
            <a:ext cx="10378440" cy="5486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Frequent travelers and single employees show highest attrition rates, suggesting work-life balance challenges.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011680"/>
            <a:ext cx="10287000" cy="4069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ure_5_20260503_2213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4795" y="2148840"/>
            <a:ext cx="9134768" cy="374903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13232" y="6318504"/>
            <a:ext cx="10835640" cy="13716"/>
          </a:xfrm>
          <a:prstGeom prst="rect">
            <a:avLst/>
          </a:prstGeom>
          <a:solidFill>
            <a:srgbClr val="556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6437376"/>
            <a:ext cx="78638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900" b="0" i="0">
                <a:solidFill>
                  <a:srgbClr val="55606E"/>
                </a:solidFill>
                <a:latin typeface="Calibri"/>
              </a:rPr>
              <a:t>Understanding &amp; Reducing Employee Attrition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20" y="6437376"/>
            <a:ext cx="1828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 i="0">
                <a:solidFill>
                  <a:srgbClr val="55606E"/>
                </a:solidFill>
                <a:latin typeface="Calibri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